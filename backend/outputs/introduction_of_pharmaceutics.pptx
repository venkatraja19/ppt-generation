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ctr"/>
            <a:r>
              <a:rPr sz="4000" b="1" i="0">
                <a:solidFill>
                  <a:srgbClr val="FF0000"/>
                </a:solidFill>
                <a:latin typeface="Times New Roman"/>
              </a:rPr>
              <a:t>INTRODUCTION OF PHARMACEUTICS</a:t>
            </a:r>
          </a:p>
        </p:txBody>
      </p:sp>
      <p:sp>
        <p:nvSpPr>
          <p:cNvPr id="3" name="TextBox 2"/>
          <p:cNvSpPr txBox="1"/>
          <p:nvPr/>
        </p:nvSpPr>
        <p:spPr>
          <a:xfrm>
            <a:off x="838504" y="1828800"/>
            <a:ext cx="10515600" cy="2743200"/>
          </a:xfrm>
          <a:prstGeom prst="rect">
            <a:avLst/>
          </a:prstGeom>
          <a:noFill/>
        </p:spPr>
        <p:txBody>
          <a:bodyPr wrap="square" tIns="0" lIns="0" rIns="0" bIns="0">
            <a:spAutoFit/>
          </a:bodyPr>
          <a:lstStyle/>
          <a:p>
            <a:pPr algn="ctr">
              <a:spcBef>
                <a:spcPts val="400"/>
              </a:spcBef>
              <a:spcAft>
                <a:spcPts val="400"/>
              </a:spcAft>
            </a:pPr>
            <a:r>
              <a:rPr sz="3200" b="1">
                <a:solidFill>
                  <a:srgbClr val="000000"/>
                </a:solidFill>
                <a:latin typeface="Times New Roman"/>
              </a:rPr>
              <a:t>Introduction to Pharmaceutics</a:t>
            </a:r>
          </a:p>
          <a:p>
            <a:pPr algn="ctr">
              <a:spcBef>
                <a:spcPts val="400"/>
              </a:spcBef>
              <a:spcAft>
                <a:spcPts val="400"/>
              </a:spcAft>
            </a:pPr>
            <a:r>
              <a:rPr sz="3200" b="1">
                <a:solidFill>
                  <a:srgbClr val="000000"/>
                </a:solidFill>
                <a:latin typeface="Times New Roman"/>
              </a:rPr>
              <a:t>History of Pharmaceutics</a:t>
            </a:r>
          </a:p>
          <a:p>
            <a:pPr algn="ctr">
              <a:spcBef>
                <a:spcPts val="400"/>
              </a:spcBef>
              <a:spcAft>
                <a:spcPts val="400"/>
              </a:spcAft>
            </a:pPr>
            <a:r>
              <a:rPr sz="3200" b="1">
                <a:solidFill>
                  <a:srgbClr val="000000"/>
                </a:solidFill>
                <a:latin typeface="Times New Roman"/>
              </a:rPr>
              <a:t>Pharmaceutical Product Development</a:t>
            </a:r>
          </a:p>
          <a:p>
            <a:pPr algn="ctr">
              <a:spcBef>
                <a:spcPts val="400"/>
              </a:spcBef>
              <a:spcAft>
                <a:spcPts val="400"/>
              </a:spcAft>
            </a:pPr>
            <a:r>
              <a:rPr sz="3200" b="1">
                <a:solidFill>
                  <a:srgbClr val="000000"/>
                </a:solidFill>
                <a:latin typeface="Times New Roman"/>
              </a:rPr>
              <a:t>Pharmaceutical Formulations</a:t>
            </a:r>
          </a:p>
        </p:txBody>
      </p:sp>
      <p:sp>
        <p:nvSpPr>
          <p:cNvPr id="4" name="TextBox 3"/>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5" name="TextBox 4"/>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6" name="TextBox 5"/>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Introduction to Pharmaceutics</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2</a:t>
            </a:r>
          </a:p>
        </p:txBody>
      </p:sp>
      <p:sp>
        <p:nvSpPr>
          <p:cNvPr id="6" name="TextBox 5"/>
          <p:cNvSpPr txBox="1"/>
          <p:nvPr/>
        </p:nvSpPr>
        <p:spPr>
          <a:xfrm>
            <a:off x="1021384" y="1917496"/>
            <a:ext cx="10332720" cy="1234440"/>
          </a:xfrm>
          <a:prstGeom prst="rect">
            <a:avLst/>
          </a:prstGeom>
          <a:noFill/>
        </p:spPr>
        <p:txBody>
          <a:bodyPr wrap="square" tIns="0" lIns="0" rIns="0" bIns="0">
            <a:spAutoFit/>
          </a:bodyPr>
          <a:lstStyle/>
          <a:p>
            <a:pPr>
              <a:spcAft>
                <a:spcPts val="600"/>
              </a:spcAft>
            </a:pPr>
            <a:r>
              <a:rPr sz="2200" i="1">
                <a:solidFill>
                  <a:srgbClr val="FF0000"/>
                </a:solidFill>
                <a:latin typeface="Times New Roman"/>
              </a:rPr>
              <a:t>Pharmaceutics is the study of the formulation, manufacture, and evaluation of pharmaceutical products. It involves the application of pharmaceutical principles to design and develop effective drug delivery systems. This field is crucial in ensuring the quality and efficacy of medicines.</a:t>
            </a:r>
          </a:p>
        </p:txBody>
      </p:sp>
      <p:sp>
        <p:nvSpPr>
          <p:cNvPr id="7" name="Rectangle 6"/>
          <p:cNvSpPr/>
          <p:nvPr/>
        </p:nvSpPr>
        <p:spPr>
          <a:xfrm>
            <a:off x="1021384" y="3197656"/>
            <a:ext cx="10332720" cy="228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1384" y="3362248"/>
            <a:ext cx="10332720" cy="2838298"/>
          </a:xfrm>
          <a:prstGeom prst="rect">
            <a:avLst/>
          </a:prstGeom>
          <a:noFill/>
        </p:spPr>
        <p:txBody>
          <a:bodyPr wrap="square" tIns="0" lIns="0" rIns="0" bIns="0">
            <a:spAutoFit/>
          </a:bodyPr>
          <a:lstStyle/>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Formulation of pharmaceutical products</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Manufacture of pharmaceutical products</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Evaluation of pharmaceutical products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History of Pharmaceutics</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3</a:t>
            </a:r>
          </a:p>
        </p:txBody>
      </p:sp>
      <p:sp>
        <p:nvSpPr>
          <p:cNvPr id="6" name="TextBox 5"/>
          <p:cNvSpPr txBox="1"/>
          <p:nvPr/>
        </p:nvSpPr>
        <p:spPr>
          <a:xfrm>
            <a:off x="1021384" y="1917496"/>
            <a:ext cx="10332720" cy="1234440"/>
          </a:xfrm>
          <a:prstGeom prst="rect">
            <a:avLst/>
          </a:prstGeom>
          <a:noFill/>
        </p:spPr>
        <p:txBody>
          <a:bodyPr wrap="square" tIns="0" lIns="0" rIns="0" bIns="0">
            <a:spAutoFit/>
          </a:bodyPr>
          <a:lstStyle/>
          <a:p>
            <a:pPr>
              <a:spcAft>
                <a:spcPts val="600"/>
              </a:spcAft>
            </a:pPr>
            <a:r>
              <a:rPr sz="2200" i="1">
                <a:solidFill>
                  <a:srgbClr val="FF0000"/>
                </a:solidFill>
                <a:latin typeface="Times New Roman"/>
              </a:rPr>
              <a:t>The history of pharmaceutics dates back to ancient civilizations, where medicinal plants and herbs were used to treat various ailments. Over time, the field has evolved with advances in technology and science. Today, pharmaceutics is a multidisciplinary field that combines pharmacy, chemistry, biology, and engineering.</a:t>
            </a:r>
          </a:p>
        </p:txBody>
      </p:sp>
      <p:sp>
        <p:nvSpPr>
          <p:cNvPr id="7" name="Rectangle 6"/>
          <p:cNvSpPr/>
          <p:nvPr/>
        </p:nvSpPr>
        <p:spPr>
          <a:xfrm>
            <a:off x="1021384" y="3197656"/>
            <a:ext cx="10332720" cy="228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1384" y="3362248"/>
            <a:ext cx="10332720" cy="2838298"/>
          </a:xfrm>
          <a:prstGeom prst="rect">
            <a:avLst/>
          </a:prstGeom>
          <a:noFill/>
        </p:spPr>
        <p:txBody>
          <a:bodyPr wrap="square" tIns="0" lIns="0" rIns="0" bIns="0">
            <a:spAutoFit/>
          </a:bodyPr>
          <a:lstStyle/>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Ancient civilizations used medicinal plants</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Advances in technology and science</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Multidisciplinary field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Pharmaceutical Product Development</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4</a:t>
            </a:r>
          </a:p>
        </p:txBody>
      </p:sp>
      <p:sp>
        <p:nvSpPr>
          <p:cNvPr id="6" name="TextBox 5"/>
          <p:cNvSpPr txBox="1"/>
          <p:nvPr/>
        </p:nvSpPr>
        <p:spPr>
          <a:xfrm>
            <a:off x="1021384" y="1871776"/>
            <a:ext cx="10149840" cy="548640"/>
          </a:xfrm>
          <a:prstGeom prst="rect">
            <a:avLst/>
          </a:prstGeom>
          <a:noFill/>
        </p:spPr>
        <p:txBody>
          <a:bodyPr wrap="square" tIns="0" lIns="0" rIns="0" bIns="0">
            <a:spAutoFit/>
          </a:bodyPr>
          <a:lstStyle/>
          <a:p>
            <a:pPr algn="l"/>
            <a:r>
              <a:rPr sz="1800" b="0" i="1">
                <a:solidFill>
                  <a:srgbClr val="44546A"/>
                </a:solidFill>
                <a:latin typeface="Times New Roman"/>
              </a:rPr>
              <a:t>The development of pharmaceutical products involves several stages, from discovery to commercialization. This process requires careful planning, execution, and evaluation to ensure the quality and efficacy of the final product.</a:t>
            </a:r>
          </a:p>
        </p:txBody>
      </p:sp>
      <p:sp>
        <p:nvSpPr>
          <p:cNvPr id="7" name="Rounded Rectangle 6"/>
          <p:cNvSpPr/>
          <p:nvPr/>
        </p:nvSpPr>
        <p:spPr>
          <a:xfrm>
            <a:off x="2013508" y="2944368"/>
            <a:ext cx="347472" cy="347472"/>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13508" y="2944368"/>
            <a:ext cx="347472" cy="347472"/>
          </a:xfrm>
          <a:prstGeom prst="rect">
            <a:avLst/>
          </a:prstGeom>
          <a:noFill/>
        </p:spPr>
        <p:txBody>
          <a:bodyPr wrap="square" tIns="0" lIns="0" rIns="0" bIns="0">
            <a:spAutoFit/>
          </a:bodyPr>
          <a:lstStyle/>
          <a:p>
            <a:pPr algn="ctr"/>
            <a:r>
              <a:rPr sz="1200" b="1" i="0">
                <a:solidFill>
                  <a:srgbClr val="FFFFFF"/>
                </a:solidFill>
                <a:latin typeface="Times New Roman"/>
              </a:rPr>
              <a:t>1</a:t>
            </a:r>
          </a:p>
        </p:txBody>
      </p:sp>
      <p:sp>
        <p:nvSpPr>
          <p:cNvPr id="9" name="Rounded Rectangle 8"/>
          <p:cNvSpPr/>
          <p:nvPr/>
        </p:nvSpPr>
        <p:spPr>
          <a:xfrm>
            <a:off x="1135684" y="3337560"/>
            <a:ext cx="2103120" cy="118872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08836" y="3447288"/>
            <a:ext cx="1956816" cy="1005840"/>
          </a:xfrm>
          <a:prstGeom prst="rect">
            <a:avLst/>
          </a:prstGeom>
          <a:noFill/>
        </p:spPr>
        <p:txBody>
          <a:bodyPr wrap="square" tIns="0" lIns="0" rIns="0" bIns="0">
            <a:spAutoFit/>
          </a:bodyPr>
          <a:lstStyle/>
          <a:p>
            <a:pPr algn="ctr"/>
            <a:r>
              <a:rPr sz="1300" b="0" i="0">
                <a:solidFill>
                  <a:srgbClr val="FFFFFF"/>
                </a:solidFill>
                <a:latin typeface="Times New Roman"/>
              </a:rPr>
              <a:t>Discovery and development</a:t>
            </a:r>
          </a:p>
        </p:txBody>
      </p:sp>
      <p:sp>
        <p:nvSpPr>
          <p:cNvPr id="11" name="TextBox 10"/>
          <p:cNvSpPr txBox="1"/>
          <p:nvPr/>
        </p:nvSpPr>
        <p:spPr>
          <a:xfrm>
            <a:off x="3238804" y="3730752"/>
            <a:ext cx="411480" cy="402336"/>
          </a:xfrm>
          <a:prstGeom prst="rect">
            <a:avLst/>
          </a:prstGeom>
          <a:noFill/>
        </p:spPr>
        <p:txBody>
          <a:bodyPr wrap="square" tIns="0" lIns="0" rIns="0" bIns="0">
            <a:spAutoFit/>
          </a:bodyPr>
          <a:lstStyle/>
          <a:p>
            <a:pPr algn="ctr"/>
            <a:r>
              <a:rPr sz="2200" b="1" i="0">
                <a:solidFill>
                  <a:srgbClr val="FF0000"/>
                </a:solidFill>
                <a:latin typeface="Times New Roman"/>
              </a:rPr>
              <a:t>→</a:t>
            </a:r>
          </a:p>
        </p:txBody>
      </p:sp>
      <p:sp>
        <p:nvSpPr>
          <p:cNvPr id="12" name="Rounded Rectangle 11"/>
          <p:cNvSpPr/>
          <p:nvPr/>
        </p:nvSpPr>
        <p:spPr>
          <a:xfrm>
            <a:off x="4528108" y="2944368"/>
            <a:ext cx="347472" cy="347472"/>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8108" y="2944368"/>
            <a:ext cx="347472" cy="347472"/>
          </a:xfrm>
          <a:prstGeom prst="rect">
            <a:avLst/>
          </a:prstGeom>
          <a:noFill/>
        </p:spPr>
        <p:txBody>
          <a:bodyPr wrap="square" tIns="0" lIns="0" rIns="0" bIns="0">
            <a:spAutoFit/>
          </a:bodyPr>
          <a:lstStyle/>
          <a:p>
            <a:pPr algn="ctr"/>
            <a:r>
              <a:rPr sz="1200" b="1" i="0">
                <a:solidFill>
                  <a:srgbClr val="FFFFFF"/>
                </a:solidFill>
                <a:latin typeface="Times New Roman"/>
              </a:rPr>
              <a:t>2</a:t>
            </a:r>
          </a:p>
        </p:txBody>
      </p:sp>
      <p:sp>
        <p:nvSpPr>
          <p:cNvPr id="14" name="Rounded Rectangle 13"/>
          <p:cNvSpPr/>
          <p:nvPr/>
        </p:nvSpPr>
        <p:spPr>
          <a:xfrm>
            <a:off x="3650284" y="3337560"/>
            <a:ext cx="2103120" cy="118872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23436" y="3447288"/>
            <a:ext cx="1956816" cy="1005840"/>
          </a:xfrm>
          <a:prstGeom prst="rect">
            <a:avLst/>
          </a:prstGeom>
          <a:noFill/>
        </p:spPr>
        <p:txBody>
          <a:bodyPr wrap="square" tIns="0" lIns="0" rIns="0" bIns="0">
            <a:spAutoFit/>
          </a:bodyPr>
          <a:lstStyle/>
          <a:p>
            <a:pPr algn="ctr"/>
            <a:r>
              <a:rPr sz="1600" b="0" i="0">
                <a:solidFill>
                  <a:srgbClr val="FFFFFF"/>
                </a:solidFill>
                <a:latin typeface="Times New Roman"/>
              </a:rPr>
              <a:t>Preclinical testing</a:t>
            </a:r>
          </a:p>
        </p:txBody>
      </p:sp>
      <p:sp>
        <p:nvSpPr>
          <p:cNvPr id="16" name="TextBox 15"/>
          <p:cNvSpPr txBox="1"/>
          <p:nvPr/>
        </p:nvSpPr>
        <p:spPr>
          <a:xfrm>
            <a:off x="5753404" y="3730752"/>
            <a:ext cx="411480" cy="402336"/>
          </a:xfrm>
          <a:prstGeom prst="rect">
            <a:avLst/>
          </a:prstGeom>
          <a:noFill/>
        </p:spPr>
        <p:txBody>
          <a:bodyPr wrap="square" tIns="0" lIns="0" rIns="0" bIns="0">
            <a:spAutoFit/>
          </a:bodyPr>
          <a:lstStyle/>
          <a:p>
            <a:pPr algn="ctr"/>
            <a:r>
              <a:rPr sz="2200" b="1" i="0">
                <a:solidFill>
                  <a:srgbClr val="FF0000"/>
                </a:solidFill>
                <a:latin typeface="Times New Roman"/>
              </a:rPr>
              <a:t>→</a:t>
            </a:r>
          </a:p>
        </p:txBody>
      </p:sp>
      <p:sp>
        <p:nvSpPr>
          <p:cNvPr id="17" name="Rounded Rectangle 16"/>
          <p:cNvSpPr/>
          <p:nvPr/>
        </p:nvSpPr>
        <p:spPr>
          <a:xfrm>
            <a:off x="7042708" y="2944368"/>
            <a:ext cx="347472" cy="347472"/>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2708" y="2944368"/>
            <a:ext cx="347472" cy="347472"/>
          </a:xfrm>
          <a:prstGeom prst="rect">
            <a:avLst/>
          </a:prstGeom>
          <a:noFill/>
        </p:spPr>
        <p:txBody>
          <a:bodyPr wrap="square" tIns="0" lIns="0" rIns="0" bIns="0">
            <a:spAutoFit/>
          </a:bodyPr>
          <a:lstStyle/>
          <a:p>
            <a:pPr algn="ctr"/>
            <a:r>
              <a:rPr sz="1200" b="1" i="0">
                <a:solidFill>
                  <a:srgbClr val="FFFFFF"/>
                </a:solidFill>
                <a:latin typeface="Times New Roman"/>
              </a:rPr>
              <a:t>3</a:t>
            </a:r>
          </a:p>
        </p:txBody>
      </p:sp>
      <p:sp>
        <p:nvSpPr>
          <p:cNvPr id="19" name="Rounded Rectangle 18"/>
          <p:cNvSpPr/>
          <p:nvPr/>
        </p:nvSpPr>
        <p:spPr>
          <a:xfrm>
            <a:off x="6164884" y="3337560"/>
            <a:ext cx="2103120" cy="118872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38036" y="3447288"/>
            <a:ext cx="1956816" cy="1005840"/>
          </a:xfrm>
          <a:prstGeom prst="rect">
            <a:avLst/>
          </a:prstGeom>
          <a:noFill/>
        </p:spPr>
        <p:txBody>
          <a:bodyPr wrap="square" tIns="0" lIns="0" rIns="0" bIns="0">
            <a:spAutoFit/>
          </a:bodyPr>
          <a:lstStyle/>
          <a:p>
            <a:pPr algn="ctr"/>
            <a:r>
              <a:rPr sz="1600" b="0" i="0">
                <a:solidFill>
                  <a:srgbClr val="FFFFFF"/>
                </a:solidFill>
                <a:latin typeface="Times New Roman"/>
              </a:rPr>
              <a:t>Clinical trials</a:t>
            </a:r>
          </a:p>
        </p:txBody>
      </p:sp>
      <p:sp>
        <p:nvSpPr>
          <p:cNvPr id="21" name="TextBox 20"/>
          <p:cNvSpPr txBox="1"/>
          <p:nvPr/>
        </p:nvSpPr>
        <p:spPr>
          <a:xfrm>
            <a:off x="8268004" y="3730752"/>
            <a:ext cx="411480" cy="402336"/>
          </a:xfrm>
          <a:prstGeom prst="rect">
            <a:avLst/>
          </a:prstGeom>
          <a:noFill/>
        </p:spPr>
        <p:txBody>
          <a:bodyPr wrap="square" tIns="0" lIns="0" rIns="0" bIns="0">
            <a:spAutoFit/>
          </a:bodyPr>
          <a:lstStyle/>
          <a:p>
            <a:pPr algn="ctr"/>
            <a:r>
              <a:rPr sz="2200" b="1" i="0">
                <a:solidFill>
                  <a:srgbClr val="FF0000"/>
                </a:solidFill>
                <a:latin typeface="Times New Roman"/>
              </a:rPr>
              <a:t>→</a:t>
            </a:r>
          </a:p>
        </p:txBody>
      </p:sp>
      <p:sp>
        <p:nvSpPr>
          <p:cNvPr id="22" name="Rounded Rectangle 21"/>
          <p:cNvSpPr/>
          <p:nvPr/>
        </p:nvSpPr>
        <p:spPr>
          <a:xfrm>
            <a:off x="9557308" y="2944368"/>
            <a:ext cx="347472" cy="347472"/>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57308" y="2944368"/>
            <a:ext cx="347472" cy="347472"/>
          </a:xfrm>
          <a:prstGeom prst="rect">
            <a:avLst/>
          </a:prstGeom>
          <a:noFill/>
        </p:spPr>
        <p:txBody>
          <a:bodyPr wrap="square" tIns="0" lIns="0" rIns="0" bIns="0">
            <a:spAutoFit/>
          </a:bodyPr>
          <a:lstStyle/>
          <a:p>
            <a:pPr algn="ctr"/>
            <a:r>
              <a:rPr sz="1200" b="1" i="0">
                <a:solidFill>
                  <a:srgbClr val="FFFFFF"/>
                </a:solidFill>
                <a:latin typeface="Times New Roman"/>
              </a:rPr>
              <a:t>4</a:t>
            </a:r>
          </a:p>
        </p:txBody>
      </p:sp>
      <p:sp>
        <p:nvSpPr>
          <p:cNvPr id="24" name="Rounded Rectangle 23"/>
          <p:cNvSpPr/>
          <p:nvPr/>
        </p:nvSpPr>
        <p:spPr>
          <a:xfrm>
            <a:off x="8679484" y="3337560"/>
            <a:ext cx="2103120" cy="1188720"/>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52636" y="3447288"/>
            <a:ext cx="1956816" cy="1005840"/>
          </a:xfrm>
          <a:prstGeom prst="rect">
            <a:avLst/>
          </a:prstGeom>
          <a:noFill/>
        </p:spPr>
        <p:txBody>
          <a:bodyPr wrap="square" tIns="0" lIns="0" rIns="0" bIns="0">
            <a:spAutoFit/>
          </a:bodyPr>
          <a:lstStyle/>
          <a:p>
            <a:pPr algn="ctr"/>
            <a:r>
              <a:rPr sz="1600" b="0" i="0">
                <a:solidFill>
                  <a:srgbClr val="FFFFFF"/>
                </a:solidFill>
                <a:latin typeface="Times New Roman"/>
              </a:rPr>
              <a:t>Commercialization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Pharmaceutical Formulations</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5</a:t>
            </a:r>
          </a:p>
        </p:txBody>
      </p:sp>
      <p:sp>
        <p:nvSpPr>
          <p:cNvPr id="6" name="Rectangle 5"/>
          <p:cNvSpPr/>
          <p:nvPr/>
        </p:nvSpPr>
        <p:spPr>
          <a:xfrm>
            <a:off x="274320" y="1826056"/>
            <a:ext cx="5029200" cy="4347058"/>
          </a:xfrm>
          <a:prstGeom prst="rect">
            <a:avLst/>
          </a:prstGeom>
          <a:solidFill>
            <a:srgbClr val="DFE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633825"/>
            <a:ext cx="5029200" cy="731520"/>
          </a:xfrm>
          <a:prstGeom prst="rect">
            <a:avLst/>
          </a:prstGeom>
          <a:noFill/>
        </p:spPr>
        <p:txBody>
          <a:bodyPr wrap="square" tIns="0" lIns="0" rIns="0" bIns="0">
            <a:spAutoFit/>
          </a:bodyPr>
          <a:lstStyle/>
          <a:p>
            <a:pPr algn="ctr"/>
            <a:r>
              <a:rPr sz="1400" b="0" i="1">
                <a:solidFill>
                  <a:srgbClr val="44546A"/>
                </a:solidFill>
                <a:latin typeface="Times New Roman"/>
              </a:rPr>
              <a:t>[ Image ]</a:t>
            </a:r>
          </a:p>
        </p:txBody>
      </p:sp>
      <p:sp>
        <p:nvSpPr>
          <p:cNvPr id="8" name="TextBox 7"/>
          <p:cNvSpPr txBox="1"/>
          <p:nvPr/>
        </p:nvSpPr>
        <p:spPr>
          <a:xfrm>
            <a:off x="6096304" y="1917496"/>
            <a:ext cx="5775351" cy="4347058"/>
          </a:xfrm>
          <a:prstGeom prst="rect">
            <a:avLst/>
          </a:prstGeom>
          <a:noFill/>
        </p:spPr>
        <p:txBody>
          <a:bodyPr wrap="square" tIns="0" lIns="0" rIns="0" bIns="0">
            <a:spAutoFit/>
          </a:bodyPr>
          <a:lstStyle/>
          <a:p>
            <a:pPr>
              <a:spcAft>
                <a:spcPts val="1000"/>
              </a:spcAft>
            </a:pPr>
            <a:r>
              <a:rPr sz="2100" i="1">
                <a:solidFill>
                  <a:srgbClr val="44546A"/>
                </a:solidFill>
                <a:latin typeface="Times New Roman"/>
              </a:rPr>
              <a:t>Pharmaceutical formulations refer to the mixture of active and inactive ingredients that make up a pharmaceutical product. The formulation of a product can affect its efficacy, safety, and stability.</a:t>
            </a:r>
          </a:p>
          <a:p>
            <a:pPr>
              <a:spcBef>
                <a:spcPts val="600"/>
              </a:spcBef>
              <a:spcAft>
                <a:spcPts val="400"/>
              </a:spcAft>
            </a:pPr>
            <a:r>
              <a:rPr sz="1600" b="1">
                <a:solidFill>
                  <a:srgbClr val="FF0000"/>
                </a:solidFill>
                <a:latin typeface="Times New Roman"/>
              </a:rPr>
              <a:t>▶  </a:t>
            </a:r>
            <a:r>
              <a:rPr sz="2000">
                <a:solidFill>
                  <a:srgbClr val="000000"/>
                </a:solidFill>
                <a:latin typeface="Times New Roman"/>
              </a:rPr>
              <a:t>Active ingredients</a:t>
            </a:r>
          </a:p>
          <a:p>
            <a:pPr>
              <a:spcBef>
                <a:spcPts val="600"/>
              </a:spcBef>
              <a:spcAft>
                <a:spcPts val="400"/>
              </a:spcAft>
            </a:pPr>
            <a:r>
              <a:rPr sz="1600" b="1">
                <a:solidFill>
                  <a:srgbClr val="FF0000"/>
                </a:solidFill>
                <a:latin typeface="Times New Roman"/>
              </a:rPr>
              <a:t>▶  </a:t>
            </a:r>
            <a:r>
              <a:rPr sz="2000">
                <a:solidFill>
                  <a:srgbClr val="000000"/>
                </a:solidFill>
                <a:latin typeface="Times New Roman"/>
              </a:rPr>
              <a:t>Inactive ingredients</a:t>
            </a:r>
          </a:p>
          <a:p>
            <a:pPr>
              <a:spcBef>
                <a:spcPts val="600"/>
              </a:spcBef>
              <a:spcAft>
                <a:spcPts val="400"/>
              </a:spcAft>
            </a:pPr>
            <a:r>
              <a:rPr sz="1600" b="1">
                <a:solidFill>
                  <a:srgbClr val="FF0000"/>
                </a:solidFill>
                <a:latin typeface="Times New Roman"/>
              </a:rPr>
              <a:t>▶  </a:t>
            </a:r>
            <a:r>
              <a:rPr sz="2000">
                <a:solidFill>
                  <a:srgbClr val="000000"/>
                </a:solidFill>
                <a:latin typeface="Times New Roman"/>
              </a:rPr>
              <a:t>Efficacy and safety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Route of Administration</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6</a:t>
            </a:r>
          </a:p>
        </p:txBody>
      </p:sp>
      <p:sp>
        <p:nvSpPr>
          <p:cNvPr id="6" name="TextBox 5"/>
          <p:cNvSpPr txBox="1"/>
          <p:nvPr/>
        </p:nvSpPr>
        <p:spPr>
          <a:xfrm>
            <a:off x="1021384" y="1917496"/>
            <a:ext cx="10332720" cy="1234440"/>
          </a:xfrm>
          <a:prstGeom prst="rect">
            <a:avLst/>
          </a:prstGeom>
          <a:noFill/>
        </p:spPr>
        <p:txBody>
          <a:bodyPr wrap="square" tIns="0" lIns="0" rIns="0" bIns="0">
            <a:spAutoFit/>
          </a:bodyPr>
          <a:lstStyle/>
          <a:p>
            <a:pPr>
              <a:spcAft>
                <a:spcPts val="600"/>
              </a:spcAft>
            </a:pPr>
            <a:r>
              <a:rPr sz="2200" i="1">
                <a:solidFill>
                  <a:srgbClr val="FF0000"/>
                </a:solidFill>
                <a:latin typeface="Times New Roman"/>
              </a:rPr>
              <a:t>The route of administration refers to the way a pharmaceutical product is delivered to the body. Common routes of administration include oral, parenteral, and topical.</a:t>
            </a:r>
          </a:p>
        </p:txBody>
      </p:sp>
      <p:sp>
        <p:nvSpPr>
          <p:cNvPr id="7" name="Rectangle 6"/>
          <p:cNvSpPr/>
          <p:nvPr/>
        </p:nvSpPr>
        <p:spPr>
          <a:xfrm>
            <a:off x="1021384" y="3197656"/>
            <a:ext cx="10332720" cy="228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1384" y="3362248"/>
            <a:ext cx="10332720" cy="2838298"/>
          </a:xfrm>
          <a:prstGeom prst="rect">
            <a:avLst/>
          </a:prstGeom>
          <a:noFill/>
        </p:spPr>
        <p:txBody>
          <a:bodyPr wrap="square" tIns="0" lIns="0" rIns="0" bIns="0">
            <a:spAutoFit/>
          </a:bodyPr>
          <a:lstStyle/>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Oral route</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Parenteral route</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Topical route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Pharmaceutical Dosage Forms</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7</a:t>
            </a:r>
          </a:p>
        </p:txBody>
      </p:sp>
      <p:sp>
        <p:nvSpPr>
          <p:cNvPr id="6" name="TextBox 5"/>
          <p:cNvSpPr txBox="1"/>
          <p:nvPr/>
        </p:nvSpPr>
        <p:spPr>
          <a:xfrm>
            <a:off x="929944" y="1917496"/>
            <a:ext cx="5349240" cy="4347058"/>
          </a:xfrm>
          <a:prstGeom prst="rect">
            <a:avLst/>
          </a:prstGeom>
          <a:noFill/>
        </p:spPr>
        <p:txBody>
          <a:bodyPr wrap="square" tIns="0" lIns="0" rIns="0" bIns="0">
            <a:spAutoFit/>
          </a:bodyPr>
          <a:lstStyle/>
          <a:p>
            <a:pPr>
              <a:spcAft>
                <a:spcPts val="1000"/>
              </a:spcAft>
            </a:pPr>
            <a:r>
              <a:rPr sz="2100" i="1">
                <a:solidFill>
                  <a:srgbClr val="FF0000"/>
                </a:solidFill>
                <a:latin typeface="Times New Roman"/>
              </a:rPr>
              <a:t>Pharmaceutical dosage forms refer to the physical form of a pharmaceutical product, such as tablets, capsules, or solutions. The dosage form can affect the efficacy and safety of the product.</a:t>
            </a:r>
          </a:p>
          <a:p>
            <a:pPr>
              <a:spcBef>
                <a:spcPts val="700"/>
              </a:spcBef>
              <a:spcAft>
                <a:spcPts val="400"/>
              </a:spcAft>
            </a:pPr>
            <a:r>
              <a:rPr sz="1700" b="1">
                <a:solidFill>
                  <a:srgbClr val="FF0000"/>
                </a:solidFill>
                <a:latin typeface="Times New Roman"/>
              </a:rPr>
              <a:t>▶  </a:t>
            </a:r>
            <a:r>
              <a:rPr sz="2100">
                <a:solidFill>
                  <a:srgbClr val="000000"/>
                </a:solidFill>
                <a:latin typeface="Times New Roman"/>
              </a:rPr>
              <a:t>Tablets</a:t>
            </a:r>
          </a:p>
          <a:p>
            <a:pPr>
              <a:spcBef>
                <a:spcPts val="700"/>
              </a:spcBef>
              <a:spcAft>
                <a:spcPts val="400"/>
              </a:spcAft>
            </a:pPr>
            <a:r>
              <a:rPr sz="1700" b="1">
                <a:solidFill>
                  <a:srgbClr val="FF0000"/>
                </a:solidFill>
                <a:latin typeface="Times New Roman"/>
              </a:rPr>
              <a:t>▶  </a:t>
            </a:r>
            <a:r>
              <a:rPr sz="2100">
                <a:solidFill>
                  <a:srgbClr val="000000"/>
                </a:solidFill>
                <a:latin typeface="Times New Roman"/>
              </a:rPr>
              <a:t>Capsules</a:t>
            </a:r>
          </a:p>
          <a:p>
            <a:pPr>
              <a:spcBef>
                <a:spcPts val="700"/>
              </a:spcBef>
              <a:spcAft>
                <a:spcPts val="400"/>
              </a:spcAft>
            </a:pPr>
            <a:r>
              <a:rPr sz="1700" b="1">
                <a:solidFill>
                  <a:srgbClr val="FF0000"/>
                </a:solidFill>
                <a:latin typeface="Times New Roman"/>
              </a:rPr>
              <a:t>▶  </a:t>
            </a:r>
            <a:r>
              <a:rPr sz="2100">
                <a:solidFill>
                  <a:srgbClr val="000000"/>
                </a:solidFill>
                <a:latin typeface="Times New Roman"/>
              </a:rPr>
              <a:t>Solutions</a:t>
            </a:r>
          </a:p>
        </p:txBody>
      </p:sp>
      <p:sp>
        <p:nvSpPr>
          <p:cNvPr id="7" name="Rectangle 6"/>
          <p:cNvSpPr/>
          <p:nvPr/>
        </p:nvSpPr>
        <p:spPr>
          <a:xfrm>
            <a:off x="6416344" y="1826056"/>
            <a:ext cx="5592471" cy="4347058"/>
          </a:xfrm>
          <a:prstGeom prst="rect">
            <a:avLst/>
          </a:prstGeom>
          <a:solidFill>
            <a:srgbClr val="DFE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6344" y="3633825"/>
            <a:ext cx="5592471" cy="731520"/>
          </a:xfrm>
          <a:prstGeom prst="rect">
            <a:avLst/>
          </a:prstGeom>
          <a:noFill/>
        </p:spPr>
        <p:txBody>
          <a:bodyPr wrap="square" tIns="0" lIns="0" rIns="0" bIns="0">
            <a:spAutoFit/>
          </a:bodyPr>
          <a:lstStyle/>
          <a:p>
            <a:pPr algn="ctr"/>
            <a:r>
              <a:rPr sz="1400" b="0" i="1">
                <a:solidFill>
                  <a:srgbClr val="44546A"/>
                </a:solidFill>
                <a:latin typeface="Times New Roman"/>
              </a:rPr>
              <a:t>[ Image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Drug Delivery Systems</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8</a:t>
            </a:r>
          </a:p>
        </p:txBody>
      </p:sp>
      <p:sp>
        <p:nvSpPr>
          <p:cNvPr id="6" name="TextBox 5"/>
          <p:cNvSpPr txBox="1"/>
          <p:nvPr/>
        </p:nvSpPr>
        <p:spPr>
          <a:xfrm>
            <a:off x="1021384" y="1917496"/>
            <a:ext cx="10332720" cy="1234440"/>
          </a:xfrm>
          <a:prstGeom prst="rect">
            <a:avLst/>
          </a:prstGeom>
          <a:noFill/>
        </p:spPr>
        <p:txBody>
          <a:bodyPr wrap="square" tIns="0" lIns="0" rIns="0" bIns="0">
            <a:spAutoFit/>
          </a:bodyPr>
          <a:lstStyle/>
          <a:p>
            <a:pPr>
              <a:spcAft>
                <a:spcPts val="600"/>
              </a:spcAft>
            </a:pPr>
            <a:r>
              <a:rPr sz="2200" i="1">
                <a:solidFill>
                  <a:srgbClr val="FF0000"/>
                </a:solidFill>
                <a:latin typeface="Times New Roman"/>
              </a:rPr>
              <a:t>Drug delivery systems refer to the methods used to deliver pharmaceutical products to the body. These systems can be designed to target specific tissues or organs, improving the efficacy and reducing the side effects of the product.</a:t>
            </a:r>
          </a:p>
        </p:txBody>
      </p:sp>
      <p:sp>
        <p:nvSpPr>
          <p:cNvPr id="7" name="Rectangle 6"/>
          <p:cNvSpPr/>
          <p:nvPr/>
        </p:nvSpPr>
        <p:spPr>
          <a:xfrm>
            <a:off x="1021384" y="3197656"/>
            <a:ext cx="10332720" cy="228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1384" y="3362248"/>
            <a:ext cx="10332720" cy="2838298"/>
          </a:xfrm>
          <a:prstGeom prst="rect">
            <a:avLst/>
          </a:prstGeom>
          <a:noFill/>
        </p:spPr>
        <p:txBody>
          <a:bodyPr wrap="square" tIns="0" lIns="0" rIns="0" bIns="0">
            <a:spAutoFit/>
          </a:bodyPr>
          <a:lstStyle/>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Targeted delivery</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Controlled release</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Sustained release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Pharmaceutical Excipients</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9</a:t>
            </a:r>
          </a:p>
        </p:txBody>
      </p:sp>
      <p:sp>
        <p:nvSpPr>
          <p:cNvPr id="6" name="Rectangle 5"/>
          <p:cNvSpPr/>
          <p:nvPr/>
        </p:nvSpPr>
        <p:spPr>
          <a:xfrm>
            <a:off x="274320" y="1826056"/>
            <a:ext cx="5029200" cy="4347058"/>
          </a:xfrm>
          <a:prstGeom prst="rect">
            <a:avLst/>
          </a:prstGeom>
          <a:solidFill>
            <a:srgbClr val="DFE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633825"/>
            <a:ext cx="5029200" cy="731520"/>
          </a:xfrm>
          <a:prstGeom prst="rect">
            <a:avLst/>
          </a:prstGeom>
          <a:noFill/>
        </p:spPr>
        <p:txBody>
          <a:bodyPr wrap="square" tIns="0" lIns="0" rIns="0" bIns="0">
            <a:spAutoFit/>
          </a:bodyPr>
          <a:lstStyle/>
          <a:p>
            <a:pPr algn="ctr"/>
            <a:r>
              <a:rPr sz="1400" b="0" i="1">
                <a:solidFill>
                  <a:srgbClr val="44546A"/>
                </a:solidFill>
                <a:latin typeface="Times New Roman"/>
              </a:rPr>
              <a:t>[ Image ]</a:t>
            </a:r>
          </a:p>
        </p:txBody>
      </p:sp>
      <p:sp>
        <p:nvSpPr>
          <p:cNvPr id="8" name="TextBox 7"/>
          <p:cNvSpPr txBox="1"/>
          <p:nvPr/>
        </p:nvSpPr>
        <p:spPr>
          <a:xfrm>
            <a:off x="6096304" y="1917496"/>
            <a:ext cx="5775351" cy="4347058"/>
          </a:xfrm>
          <a:prstGeom prst="rect">
            <a:avLst/>
          </a:prstGeom>
          <a:noFill/>
        </p:spPr>
        <p:txBody>
          <a:bodyPr wrap="square" tIns="0" lIns="0" rIns="0" bIns="0">
            <a:spAutoFit/>
          </a:bodyPr>
          <a:lstStyle/>
          <a:p>
            <a:pPr>
              <a:spcAft>
                <a:spcPts val="1000"/>
              </a:spcAft>
            </a:pPr>
            <a:r>
              <a:rPr sz="2100" i="1">
                <a:solidFill>
                  <a:srgbClr val="44546A"/>
                </a:solidFill>
                <a:latin typeface="Times New Roman"/>
              </a:rPr>
              <a:t>Pharmaceutical excipients refer to the inactive ingredients used in pharmaceutical products to improve their stability, bioavailability, or manufacturability. Excipients can include fillers, binders, and lubricants.</a:t>
            </a:r>
          </a:p>
          <a:p>
            <a:pPr>
              <a:spcBef>
                <a:spcPts val="600"/>
              </a:spcBef>
              <a:spcAft>
                <a:spcPts val="400"/>
              </a:spcAft>
            </a:pPr>
            <a:r>
              <a:rPr sz="1600" b="1">
                <a:solidFill>
                  <a:srgbClr val="FF0000"/>
                </a:solidFill>
                <a:latin typeface="Times New Roman"/>
              </a:rPr>
              <a:t>▶  </a:t>
            </a:r>
            <a:r>
              <a:rPr sz="2000">
                <a:solidFill>
                  <a:srgbClr val="000000"/>
                </a:solidFill>
                <a:latin typeface="Times New Roman"/>
              </a:rPr>
              <a:t>Fillers</a:t>
            </a:r>
          </a:p>
          <a:p>
            <a:pPr>
              <a:spcBef>
                <a:spcPts val="600"/>
              </a:spcBef>
              <a:spcAft>
                <a:spcPts val="400"/>
              </a:spcAft>
            </a:pPr>
            <a:r>
              <a:rPr sz="1600" b="1">
                <a:solidFill>
                  <a:srgbClr val="FF0000"/>
                </a:solidFill>
                <a:latin typeface="Times New Roman"/>
              </a:rPr>
              <a:t>▶  </a:t>
            </a:r>
            <a:r>
              <a:rPr sz="2000">
                <a:solidFill>
                  <a:srgbClr val="000000"/>
                </a:solidFill>
                <a:latin typeface="Times New Roman"/>
              </a:rPr>
              <a:t>Binders</a:t>
            </a:r>
          </a:p>
          <a:p>
            <a:pPr>
              <a:spcBef>
                <a:spcPts val="600"/>
              </a:spcBef>
              <a:spcAft>
                <a:spcPts val="400"/>
              </a:spcAft>
            </a:pPr>
            <a:r>
              <a:rPr sz="1600" b="1">
                <a:solidFill>
                  <a:srgbClr val="FF0000"/>
                </a:solidFill>
                <a:latin typeface="Times New Roman"/>
              </a:rPr>
              <a:t>▶  </a:t>
            </a:r>
            <a:r>
              <a:rPr sz="2000">
                <a:solidFill>
                  <a:srgbClr val="000000"/>
                </a:solidFill>
                <a:latin typeface="Times New Roman"/>
              </a:rPr>
              <a:t>Lubricants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Pharmaceutical Manufacturing Process</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10</a:t>
            </a:r>
          </a:p>
        </p:txBody>
      </p:sp>
      <p:sp>
        <p:nvSpPr>
          <p:cNvPr id="6" name="TextBox 5"/>
          <p:cNvSpPr txBox="1"/>
          <p:nvPr/>
        </p:nvSpPr>
        <p:spPr>
          <a:xfrm>
            <a:off x="1021384" y="1871776"/>
            <a:ext cx="10149840" cy="548640"/>
          </a:xfrm>
          <a:prstGeom prst="rect">
            <a:avLst/>
          </a:prstGeom>
          <a:noFill/>
        </p:spPr>
        <p:txBody>
          <a:bodyPr wrap="square" tIns="0" lIns="0" rIns="0" bIns="0">
            <a:spAutoFit/>
          </a:bodyPr>
          <a:lstStyle/>
          <a:p>
            <a:pPr algn="l"/>
            <a:r>
              <a:rPr sz="1800" b="0" i="1">
                <a:solidFill>
                  <a:srgbClr val="44546A"/>
                </a:solidFill>
                <a:latin typeface="Times New Roman"/>
              </a:rPr>
              <a:t>The pharmaceutical manufacturing process involves several stages, from raw material sourcing to finished product packaging. This process requires careful control and monitoring to ensure the quality and safety of the final product.</a:t>
            </a:r>
          </a:p>
        </p:txBody>
      </p:sp>
      <p:sp>
        <p:nvSpPr>
          <p:cNvPr id="7" name="Rounded Rectangle 6"/>
          <p:cNvSpPr/>
          <p:nvPr/>
        </p:nvSpPr>
        <p:spPr>
          <a:xfrm>
            <a:off x="2013508" y="2944368"/>
            <a:ext cx="347472" cy="347472"/>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13508" y="2944368"/>
            <a:ext cx="347472" cy="347472"/>
          </a:xfrm>
          <a:prstGeom prst="rect">
            <a:avLst/>
          </a:prstGeom>
          <a:noFill/>
        </p:spPr>
        <p:txBody>
          <a:bodyPr wrap="square" tIns="0" lIns="0" rIns="0" bIns="0">
            <a:spAutoFit/>
          </a:bodyPr>
          <a:lstStyle/>
          <a:p>
            <a:pPr algn="ctr"/>
            <a:r>
              <a:rPr sz="1200" b="1" i="0">
                <a:solidFill>
                  <a:srgbClr val="FFFFFF"/>
                </a:solidFill>
                <a:latin typeface="Times New Roman"/>
              </a:rPr>
              <a:t>1</a:t>
            </a:r>
          </a:p>
        </p:txBody>
      </p:sp>
      <p:sp>
        <p:nvSpPr>
          <p:cNvPr id="9" name="Rounded Rectangle 8"/>
          <p:cNvSpPr/>
          <p:nvPr/>
        </p:nvSpPr>
        <p:spPr>
          <a:xfrm>
            <a:off x="1135684" y="3337560"/>
            <a:ext cx="2103120" cy="118872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08836" y="3447288"/>
            <a:ext cx="1956816" cy="1005840"/>
          </a:xfrm>
          <a:prstGeom prst="rect">
            <a:avLst/>
          </a:prstGeom>
          <a:noFill/>
        </p:spPr>
        <p:txBody>
          <a:bodyPr wrap="square" tIns="0" lIns="0" rIns="0" bIns="0">
            <a:spAutoFit/>
          </a:bodyPr>
          <a:lstStyle/>
          <a:p>
            <a:pPr algn="ctr"/>
            <a:r>
              <a:rPr sz="1500" b="0" i="0">
                <a:solidFill>
                  <a:srgbClr val="FFFFFF"/>
                </a:solidFill>
                <a:latin typeface="Times New Roman"/>
              </a:rPr>
              <a:t>Raw material sourcing</a:t>
            </a:r>
          </a:p>
        </p:txBody>
      </p:sp>
      <p:sp>
        <p:nvSpPr>
          <p:cNvPr id="11" name="TextBox 10"/>
          <p:cNvSpPr txBox="1"/>
          <p:nvPr/>
        </p:nvSpPr>
        <p:spPr>
          <a:xfrm>
            <a:off x="3238804" y="3730752"/>
            <a:ext cx="411480" cy="402336"/>
          </a:xfrm>
          <a:prstGeom prst="rect">
            <a:avLst/>
          </a:prstGeom>
          <a:noFill/>
        </p:spPr>
        <p:txBody>
          <a:bodyPr wrap="square" tIns="0" lIns="0" rIns="0" bIns="0">
            <a:spAutoFit/>
          </a:bodyPr>
          <a:lstStyle/>
          <a:p>
            <a:pPr algn="ctr"/>
            <a:r>
              <a:rPr sz="2200" b="1" i="0">
                <a:solidFill>
                  <a:srgbClr val="FF0000"/>
                </a:solidFill>
                <a:latin typeface="Times New Roman"/>
              </a:rPr>
              <a:t>→</a:t>
            </a:r>
          </a:p>
        </p:txBody>
      </p:sp>
      <p:sp>
        <p:nvSpPr>
          <p:cNvPr id="12" name="Rounded Rectangle 11"/>
          <p:cNvSpPr/>
          <p:nvPr/>
        </p:nvSpPr>
        <p:spPr>
          <a:xfrm>
            <a:off x="4528108" y="2944368"/>
            <a:ext cx="347472" cy="347472"/>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8108" y="2944368"/>
            <a:ext cx="347472" cy="347472"/>
          </a:xfrm>
          <a:prstGeom prst="rect">
            <a:avLst/>
          </a:prstGeom>
          <a:noFill/>
        </p:spPr>
        <p:txBody>
          <a:bodyPr wrap="square" tIns="0" lIns="0" rIns="0" bIns="0">
            <a:spAutoFit/>
          </a:bodyPr>
          <a:lstStyle/>
          <a:p>
            <a:pPr algn="ctr"/>
            <a:r>
              <a:rPr sz="1200" b="1" i="0">
                <a:solidFill>
                  <a:srgbClr val="FFFFFF"/>
                </a:solidFill>
                <a:latin typeface="Times New Roman"/>
              </a:rPr>
              <a:t>2</a:t>
            </a:r>
          </a:p>
        </p:txBody>
      </p:sp>
      <p:sp>
        <p:nvSpPr>
          <p:cNvPr id="14" name="Rounded Rectangle 13"/>
          <p:cNvSpPr/>
          <p:nvPr/>
        </p:nvSpPr>
        <p:spPr>
          <a:xfrm>
            <a:off x="3650284" y="3337560"/>
            <a:ext cx="2103120" cy="118872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23436" y="3447288"/>
            <a:ext cx="1956816" cy="1005840"/>
          </a:xfrm>
          <a:prstGeom prst="rect">
            <a:avLst/>
          </a:prstGeom>
          <a:noFill/>
        </p:spPr>
        <p:txBody>
          <a:bodyPr wrap="square" tIns="0" lIns="0" rIns="0" bIns="0">
            <a:spAutoFit/>
          </a:bodyPr>
          <a:lstStyle/>
          <a:p>
            <a:pPr algn="ctr"/>
            <a:r>
              <a:rPr sz="1100" b="0" i="0">
                <a:solidFill>
                  <a:srgbClr val="FFFFFF"/>
                </a:solidFill>
                <a:latin typeface="Times New Roman"/>
              </a:rPr>
              <a:t>Formulation and manufacturing</a:t>
            </a:r>
          </a:p>
        </p:txBody>
      </p:sp>
      <p:sp>
        <p:nvSpPr>
          <p:cNvPr id="16" name="TextBox 15"/>
          <p:cNvSpPr txBox="1"/>
          <p:nvPr/>
        </p:nvSpPr>
        <p:spPr>
          <a:xfrm>
            <a:off x="5753404" y="3730752"/>
            <a:ext cx="411480" cy="402336"/>
          </a:xfrm>
          <a:prstGeom prst="rect">
            <a:avLst/>
          </a:prstGeom>
          <a:noFill/>
        </p:spPr>
        <p:txBody>
          <a:bodyPr wrap="square" tIns="0" lIns="0" rIns="0" bIns="0">
            <a:spAutoFit/>
          </a:bodyPr>
          <a:lstStyle/>
          <a:p>
            <a:pPr algn="ctr"/>
            <a:r>
              <a:rPr sz="2200" b="1" i="0">
                <a:solidFill>
                  <a:srgbClr val="FF0000"/>
                </a:solidFill>
                <a:latin typeface="Times New Roman"/>
              </a:rPr>
              <a:t>→</a:t>
            </a:r>
          </a:p>
        </p:txBody>
      </p:sp>
      <p:sp>
        <p:nvSpPr>
          <p:cNvPr id="17" name="Rounded Rectangle 16"/>
          <p:cNvSpPr/>
          <p:nvPr/>
        </p:nvSpPr>
        <p:spPr>
          <a:xfrm>
            <a:off x="7042708" y="2944368"/>
            <a:ext cx="347472" cy="347472"/>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2708" y="2944368"/>
            <a:ext cx="347472" cy="347472"/>
          </a:xfrm>
          <a:prstGeom prst="rect">
            <a:avLst/>
          </a:prstGeom>
          <a:noFill/>
        </p:spPr>
        <p:txBody>
          <a:bodyPr wrap="square" tIns="0" lIns="0" rIns="0" bIns="0">
            <a:spAutoFit/>
          </a:bodyPr>
          <a:lstStyle/>
          <a:p>
            <a:pPr algn="ctr"/>
            <a:r>
              <a:rPr sz="1200" b="1" i="0">
                <a:solidFill>
                  <a:srgbClr val="FFFFFF"/>
                </a:solidFill>
                <a:latin typeface="Times New Roman"/>
              </a:rPr>
              <a:t>3</a:t>
            </a:r>
          </a:p>
        </p:txBody>
      </p:sp>
      <p:sp>
        <p:nvSpPr>
          <p:cNvPr id="19" name="Rounded Rectangle 18"/>
          <p:cNvSpPr/>
          <p:nvPr/>
        </p:nvSpPr>
        <p:spPr>
          <a:xfrm>
            <a:off x="6164884" y="3337560"/>
            <a:ext cx="2103120" cy="118872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38036" y="3447288"/>
            <a:ext cx="1956816" cy="1005840"/>
          </a:xfrm>
          <a:prstGeom prst="rect">
            <a:avLst/>
          </a:prstGeom>
          <a:noFill/>
        </p:spPr>
        <p:txBody>
          <a:bodyPr wrap="square" tIns="0" lIns="0" rIns="0" bIns="0">
            <a:spAutoFit/>
          </a:bodyPr>
          <a:lstStyle/>
          <a:p>
            <a:pPr algn="ctr"/>
            <a:r>
              <a:rPr sz="1600" b="0" i="0">
                <a:solidFill>
                  <a:srgbClr val="FFFFFF"/>
                </a:solidFill>
                <a:latin typeface="Times New Roman"/>
              </a:rPr>
              <a:t>Quality control</a:t>
            </a:r>
          </a:p>
        </p:txBody>
      </p:sp>
      <p:sp>
        <p:nvSpPr>
          <p:cNvPr id="21" name="TextBox 20"/>
          <p:cNvSpPr txBox="1"/>
          <p:nvPr/>
        </p:nvSpPr>
        <p:spPr>
          <a:xfrm>
            <a:off x="8268004" y="3730752"/>
            <a:ext cx="411480" cy="402336"/>
          </a:xfrm>
          <a:prstGeom prst="rect">
            <a:avLst/>
          </a:prstGeom>
          <a:noFill/>
        </p:spPr>
        <p:txBody>
          <a:bodyPr wrap="square" tIns="0" lIns="0" rIns="0" bIns="0">
            <a:spAutoFit/>
          </a:bodyPr>
          <a:lstStyle/>
          <a:p>
            <a:pPr algn="ctr"/>
            <a:r>
              <a:rPr sz="2200" b="1" i="0">
                <a:solidFill>
                  <a:srgbClr val="FF0000"/>
                </a:solidFill>
                <a:latin typeface="Times New Roman"/>
              </a:rPr>
              <a:t>→</a:t>
            </a:r>
          </a:p>
        </p:txBody>
      </p:sp>
      <p:sp>
        <p:nvSpPr>
          <p:cNvPr id="22" name="Rounded Rectangle 21"/>
          <p:cNvSpPr/>
          <p:nvPr/>
        </p:nvSpPr>
        <p:spPr>
          <a:xfrm>
            <a:off x="9557308" y="2944368"/>
            <a:ext cx="347472" cy="347472"/>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57308" y="2944368"/>
            <a:ext cx="347472" cy="347472"/>
          </a:xfrm>
          <a:prstGeom prst="rect">
            <a:avLst/>
          </a:prstGeom>
          <a:noFill/>
        </p:spPr>
        <p:txBody>
          <a:bodyPr wrap="square" tIns="0" lIns="0" rIns="0" bIns="0">
            <a:spAutoFit/>
          </a:bodyPr>
          <a:lstStyle/>
          <a:p>
            <a:pPr algn="ctr"/>
            <a:r>
              <a:rPr sz="1200" b="1" i="0">
                <a:solidFill>
                  <a:srgbClr val="FFFFFF"/>
                </a:solidFill>
                <a:latin typeface="Times New Roman"/>
              </a:rPr>
              <a:t>4</a:t>
            </a:r>
          </a:p>
        </p:txBody>
      </p:sp>
      <p:sp>
        <p:nvSpPr>
          <p:cNvPr id="24" name="Rounded Rectangle 23"/>
          <p:cNvSpPr/>
          <p:nvPr/>
        </p:nvSpPr>
        <p:spPr>
          <a:xfrm>
            <a:off x="8679484" y="3337560"/>
            <a:ext cx="2103120" cy="1188720"/>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52636" y="3447288"/>
            <a:ext cx="1956816" cy="1005840"/>
          </a:xfrm>
          <a:prstGeom prst="rect">
            <a:avLst/>
          </a:prstGeom>
          <a:noFill/>
        </p:spPr>
        <p:txBody>
          <a:bodyPr wrap="square" tIns="0" lIns="0" rIns="0" bIns="0">
            <a:spAutoFit/>
          </a:bodyPr>
          <a:lstStyle/>
          <a:p>
            <a:pPr algn="ctr"/>
            <a:r>
              <a:rPr sz="1500" b="0" i="0">
                <a:solidFill>
                  <a:srgbClr val="FFFFFF"/>
                </a:solidFill>
                <a:latin typeface="Times New Roman"/>
              </a:rPr>
              <a:t>Packaging and labeling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Quality Control and Assurance</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11</a:t>
            </a:r>
          </a:p>
        </p:txBody>
      </p:sp>
      <p:sp>
        <p:nvSpPr>
          <p:cNvPr id="6" name="TextBox 5"/>
          <p:cNvSpPr txBox="1"/>
          <p:nvPr/>
        </p:nvSpPr>
        <p:spPr>
          <a:xfrm>
            <a:off x="929944" y="1917496"/>
            <a:ext cx="5349240" cy="4347058"/>
          </a:xfrm>
          <a:prstGeom prst="rect">
            <a:avLst/>
          </a:prstGeom>
          <a:noFill/>
        </p:spPr>
        <p:txBody>
          <a:bodyPr wrap="square" tIns="0" lIns="0" rIns="0" bIns="0">
            <a:spAutoFit/>
          </a:bodyPr>
          <a:lstStyle/>
          <a:p>
            <a:pPr>
              <a:spcAft>
                <a:spcPts val="1000"/>
              </a:spcAft>
            </a:pPr>
            <a:r>
              <a:rPr sz="2100" i="1">
                <a:solidFill>
                  <a:srgbClr val="FF0000"/>
                </a:solidFill>
                <a:latin typeface="Times New Roman"/>
              </a:rPr>
              <a:t>Quality control and assurance are critical components of the pharmaceutical manufacturing process. These activities ensure that the final product meets the required standards of quality, safety, and efficacy.</a:t>
            </a:r>
          </a:p>
          <a:p>
            <a:pPr>
              <a:spcBef>
                <a:spcPts val="700"/>
              </a:spcBef>
              <a:spcAft>
                <a:spcPts val="400"/>
              </a:spcAft>
            </a:pPr>
            <a:r>
              <a:rPr sz="1700" b="1">
                <a:solidFill>
                  <a:srgbClr val="FF0000"/>
                </a:solidFill>
                <a:latin typeface="Times New Roman"/>
              </a:rPr>
              <a:t>▶  </a:t>
            </a:r>
            <a:r>
              <a:rPr sz="2100">
                <a:solidFill>
                  <a:srgbClr val="000000"/>
                </a:solidFill>
                <a:latin typeface="Times New Roman"/>
              </a:rPr>
              <a:t>Quality control</a:t>
            </a:r>
          </a:p>
          <a:p>
            <a:pPr>
              <a:spcBef>
                <a:spcPts val="700"/>
              </a:spcBef>
              <a:spcAft>
                <a:spcPts val="400"/>
              </a:spcAft>
            </a:pPr>
            <a:r>
              <a:rPr sz="1700" b="1">
                <a:solidFill>
                  <a:srgbClr val="FF0000"/>
                </a:solidFill>
                <a:latin typeface="Times New Roman"/>
              </a:rPr>
              <a:t>▶  </a:t>
            </a:r>
            <a:r>
              <a:rPr sz="2100">
                <a:solidFill>
                  <a:srgbClr val="000000"/>
                </a:solidFill>
                <a:latin typeface="Times New Roman"/>
              </a:rPr>
              <a:t>Quality assurance</a:t>
            </a:r>
          </a:p>
          <a:p>
            <a:pPr>
              <a:spcBef>
                <a:spcPts val="700"/>
              </a:spcBef>
              <a:spcAft>
                <a:spcPts val="400"/>
              </a:spcAft>
            </a:pPr>
            <a:r>
              <a:rPr sz="1700" b="1">
                <a:solidFill>
                  <a:srgbClr val="FF0000"/>
                </a:solidFill>
                <a:latin typeface="Times New Roman"/>
              </a:rPr>
              <a:t>▶  </a:t>
            </a:r>
            <a:r>
              <a:rPr sz="2100">
                <a:solidFill>
                  <a:srgbClr val="000000"/>
                </a:solidFill>
                <a:latin typeface="Times New Roman"/>
              </a:rPr>
              <a:t>Regulatory compliance</a:t>
            </a:r>
          </a:p>
        </p:txBody>
      </p:sp>
      <p:sp>
        <p:nvSpPr>
          <p:cNvPr id="7" name="Rectangle 6"/>
          <p:cNvSpPr/>
          <p:nvPr/>
        </p:nvSpPr>
        <p:spPr>
          <a:xfrm>
            <a:off x="6416344" y="1826056"/>
            <a:ext cx="5592471" cy="4347058"/>
          </a:xfrm>
          <a:prstGeom prst="rect">
            <a:avLst/>
          </a:prstGeom>
          <a:solidFill>
            <a:srgbClr val="DFE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6344" y="3633825"/>
            <a:ext cx="5592471" cy="731520"/>
          </a:xfrm>
          <a:prstGeom prst="rect">
            <a:avLst/>
          </a:prstGeom>
          <a:noFill/>
        </p:spPr>
        <p:txBody>
          <a:bodyPr wrap="square" tIns="0" lIns="0" rIns="0" bIns="0">
            <a:spAutoFit/>
          </a:bodyPr>
          <a:lstStyle/>
          <a:p>
            <a:pPr algn="ctr"/>
            <a:r>
              <a:rPr sz="1400" b="0" i="1">
                <a:solidFill>
                  <a:srgbClr val="44546A"/>
                </a:solidFill>
                <a:latin typeface="Times New Roman"/>
              </a:rPr>
              <a:t>[ Image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Regulatory Framework</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12</a:t>
            </a:r>
          </a:p>
        </p:txBody>
      </p:sp>
      <p:sp>
        <p:nvSpPr>
          <p:cNvPr id="6" name="TextBox 5"/>
          <p:cNvSpPr txBox="1"/>
          <p:nvPr/>
        </p:nvSpPr>
        <p:spPr>
          <a:xfrm>
            <a:off x="1021384" y="1917496"/>
            <a:ext cx="10332720" cy="1234440"/>
          </a:xfrm>
          <a:prstGeom prst="rect">
            <a:avLst/>
          </a:prstGeom>
          <a:noFill/>
        </p:spPr>
        <p:txBody>
          <a:bodyPr wrap="square" tIns="0" lIns="0" rIns="0" bIns="0">
            <a:spAutoFit/>
          </a:bodyPr>
          <a:lstStyle/>
          <a:p>
            <a:pPr>
              <a:spcAft>
                <a:spcPts val="600"/>
              </a:spcAft>
            </a:pPr>
            <a:r>
              <a:rPr sz="2200" i="1">
                <a:solidFill>
                  <a:srgbClr val="FF0000"/>
                </a:solidFill>
                <a:latin typeface="Times New Roman"/>
              </a:rPr>
              <a:t>The regulatory framework for pharmaceuticals is designed to ensure the quality, safety, and efficacy of pharmaceutical products. Regulatory agencies, such as the FDA, play a critical role in overseeing the development and marketing of pharmaceutical products.</a:t>
            </a:r>
          </a:p>
        </p:txBody>
      </p:sp>
      <p:sp>
        <p:nvSpPr>
          <p:cNvPr id="7" name="Rectangle 6"/>
          <p:cNvSpPr/>
          <p:nvPr/>
        </p:nvSpPr>
        <p:spPr>
          <a:xfrm>
            <a:off x="1021384" y="3197656"/>
            <a:ext cx="10332720" cy="228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1384" y="3362248"/>
            <a:ext cx="10332720" cy="2838298"/>
          </a:xfrm>
          <a:prstGeom prst="rect">
            <a:avLst/>
          </a:prstGeom>
          <a:noFill/>
        </p:spPr>
        <p:txBody>
          <a:bodyPr wrap="square" tIns="0" lIns="0" rIns="0" bIns="0">
            <a:spAutoFit/>
          </a:bodyPr>
          <a:lstStyle/>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FDA regulations</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GMP guidelines</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Clinical trial regulations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Pharmaceutical Industry Trends</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13</a:t>
            </a:r>
          </a:p>
        </p:txBody>
      </p:sp>
      <p:sp>
        <p:nvSpPr>
          <p:cNvPr id="6" name="Rectangle 5"/>
          <p:cNvSpPr/>
          <p:nvPr/>
        </p:nvSpPr>
        <p:spPr>
          <a:xfrm>
            <a:off x="274320" y="1826056"/>
            <a:ext cx="5029200" cy="4347058"/>
          </a:xfrm>
          <a:prstGeom prst="rect">
            <a:avLst/>
          </a:prstGeom>
          <a:solidFill>
            <a:srgbClr val="DFE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633825"/>
            <a:ext cx="5029200" cy="731520"/>
          </a:xfrm>
          <a:prstGeom prst="rect">
            <a:avLst/>
          </a:prstGeom>
          <a:noFill/>
        </p:spPr>
        <p:txBody>
          <a:bodyPr wrap="square" tIns="0" lIns="0" rIns="0" bIns="0">
            <a:spAutoFit/>
          </a:bodyPr>
          <a:lstStyle/>
          <a:p>
            <a:pPr algn="ctr"/>
            <a:r>
              <a:rPr sz="1400" b="0" i="1">
                <a:solidFill>
                  <a:srgbClr val="44546A"/>
                </a:solidFill>
                <a:latin typeface="Times New Roman"/>
              </a:rPr>
              <a:t>[ Image ]</a:t>
            </a:r>
          </a:p>
        </p:txBody>
      </p:sp>
      <p:sp>
        <p:nvSpPr>
          <p:cNvPr id="8" name="TextBox 7"/>
          <p:cNvSpPr txBox="1"/>
          <p:nvPr/>
        </p:nvSpPr>
        <p:spPr>
          <a:xfrm>
            <a:off x="6096304" y="1917496"/>
            <a:ext cx="5775351" cy="4347058"/>
          </a:xfrm>
          <a:prstGeom prst="rect">
            <a:avLst/>
          </a:prstGeom>
          <a:noFill/>
        </p:spPr>
        <p:txBody>
          <a:bodyPr wrap="square" tIns="0" lIns="0" rIns="0" bIns="0">
            <a:spAutoFit/>
          </a:bodyPr>
          <a:lstStyle/>
          <a:p>
            <a:pPr>
              <a:spcAft>
                <a:spcPts val="1000"/>
              </a:spcAft>
            </a:pPr>
            <a:r>
              <a:rPr sz="2100" i="1">
                <a:solidFill>
                  <a:srgbClr val="44546A"/>
                </a:solidFill>
                <a:latin typeface="Times New Roman"/>
              </a:rPr>
              <a:t>The pharmaceutical industry is constantly evolving, with new trends and technologies emerging every year. Some of the current trends include personalized medicine, gene therapy, and digital health.</a:t>
            </a:r>
          </a:p>
          <a:p>
            <a:pPr>
              <a:spcBef>
                <a:spcPts val="600"/>
              </a:spcBef>
              <a:spcAft>
                <a:spcPts val="400"/>
              </a:spcAft>
            </a:pPr>
            <a:r>
              <a:rPr sz="1600" b="1">
                <a:solidFill>
                  <a:srgbClr val="FF0000"/>
                </a:solidFill>
                <a:latin typeface="Times New Roman"/>
              </a:rPr>
              <a:t>▶  </a:t>
            </a:r>
            <a:r>
              <a:rPr sz="2000">
                <a:solidFill>
                  <a:srgbClr val="000000"/>
                </a:solidFill>
                <a:latin typeface="Times New Roman"/>
              </a:rPr>
              <a:t>Personalized medicine</a:t>
            </a:r>
          </a:p>
          <a:p>
            <a:pPr>
              <a:spcBef>
                <a:spcPts val="600"/>
              </a:spcBef>
              <a:spcAft>
                <a:spcPts val="400"/>
              </a:spcAft>
            </a:pPr>
            <a:r>
              <a:rPr sz="1600" b="1">
                <a:solidFill>
                  <a:srgbClr val="FF0000"/>
                </a:solidFill>
                <a:latin typeface="Times New Roman"/>
              </a:rPr>
              <a:t>▶  </a:t>
            </a:r>
            <a:r>
              <a:rPr sz="2000">
                <a:solidFill>
                  <a:srgbClr val="000000"/>
                </a:solidFill>
                <a:latin typeface="Times New Roman"/>
              </a:rPr>
              <a:t>Gene therapy</a:t>
            </a:r>
          </a:p>
          <a:p>
            <a:pPr>
              <a:spcBef>
                <a:spcPts val="600"/>
              </a:spcBef>
              <a:spcAft>
                <a:spcPts val="400"/>
              </a:spcAft>
            </a:pPr>
            <a:r>
              <a:rPr sz="1600" b="1">
                <a:solidFill>
                  <a:srgbClr val="FF0000"/>
                </a:solidFill>
                <a:latin typeface="Times New Roman"/>
              </a:rPr>
              <a:t>▶  </a:t>
            </a:r>
            <a:r>
              <a:rPr sz="2000">
                <a:solidFill>
                  <a:srgbClr val="000000"/>
                </a:solidFill>
                <a:latin typeface="Times New Roman"/>
              </a:rPr>
              <a:t>Digital health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Future of Pharmaceutics</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14</a:t>
            </a:r>
          </a:p>
        </p:txBody>
      </p:sp>
      <p:sp>
        <p:nvSpPr>
          <p:cNvPr id="6" name="TextBox 5"/>
          <p:cNvSpPr txBox="1"/>
          <p:nvPr/>
        </p:nvSpPr>
        <p:spPr>
          <a:xfrm>
            <a:off x="1021384" y="1917496"/>
            <a:ext cx="10332720" cy="1234440"/>
          </a:xfrm>
          <a:prstGeom prst="rect">
            <a:avLst/>
          </a:prstGeom>
          <a:noFill/>
        </p:spPr>
        <p:txBody>
          <a:bodyPr wrap="square" tIns="0" lIns="0" rIns="0" bIns="0">
            <a:spAutoFit/>
          </a:bodyPr>
          <a:lstStyle/>
          <a:p>
            <a:pPr>
              <a:spcAft>
                <a:spcPts val="600"/>
              </a:spcAft>
            </a:pPr>
            <a:r>
              <a:rPr sz="2200" i="1">
                <a:solidFill>
                  <a:srgbClr val="FF0000"/>
                </a:solidFill>
                <a:latin typeface="Times New Roman"/>
              </a:rPr>
              <a:t>The future of pharmaceutics is exciting and promising, with new technologies and innovations emerging every day. Some of the potential areas of growth include nanotechnology, biotechnology, and artificial intelligence.</a:t>
            </a:r>
          </a:p>
        </p:txBody>
      </p:sp>
      <p:sp>
        <p:nvSpPr>
          <p:cNvPr id="7" name="Rectangle 6"/>
          <p:cNvSpPr/>
          <p:nvPr/>
        </p:nvSpPr>
        <p:spPr>
          <a:xfrm>
            <a:off x="1021384" y="3197656"/>
            <a:ext cx="10332720" cy="228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1384" y="3362248"/>
            <a:ext cx="10332720" cy="2838298"/>
          </a:xfrm>
          <a:prstGeom prst="rect">
            <a:avLst/>
          </a:prstGeom>
          <a:noFill/>
        </p:spPr>
        <p:txBody>
          <a:bodyPr wrap="square" tIns="0" lIns="0" rIns="0" bIns="0">
            <a:spAutoFit/>
          </a:bodyPr>
          <a:lstStyle/>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Nanotechnology</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Biotechnology</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Artificial intelligence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Career Opportunities in Pharmaceutics</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15</a:t>
            </a:r>
          </a:p>
        </p:txBody>
      </p:sp>
      <p:sp>
        <p:nvSpPr>
          <p:cNvPr id="6" name="TextBox 5"/>
          <p:cNvSpPr txBox="1"/>
          <p:nvPr/>
        </p:nvSpPr>
        <p:spPr>
          <a:xfrm>
            <a:off x="929944" y="1917496"/>
            <a:ext cx="5349240" cy="4347058"/>
          </a:xfrm>
          <a:prstGeom prst="rect">
            <a:avLst/>
          </a:prstGeom>
          <a:noFill/>
        </p:spPr>
        <p:txBody>
          <a:bodyPr wrap="square" tIns="0" lIns="0" rIns="0" bIns="0">
            <a:spAutoFit/>
          </a:bodyPr>
          <a:lstStyle/>
          <a:p>
            <a:pPr>
              <a:spcAft>
                <a:spcPts val="1000"/>
              </a:spcAft>
            </a:pPr>
            <a:r>
              <a:rPr sz="2100" i="1">
                <a:solidFill>
                  <a:srgbClr val="FF0000"/>
                </a:solidFill>
                <a:latin typeface="Times New Roman"/>
              </a:rPr>
              <a:t>Pharmaceutics offers a wide range of career opportunities, from research and development to manufacturing and regulatory affairs. Some of the potential career paths include pharmaceutical scientist, quality control specialist, and regulatory affairs specialist.</a:t>
            </a:r>
          </a:p>
          <a:p>
            <a:pPr>
              <a:spcBef>
                <a:spcPts val="700"/>
              </a:spcBef>
              <a:spcAft>
                <a:spcPts val="400"/>
              </a:spcAft>
            </a:pPr>
            <a:r>
              <a:rPr sz="1700" b="1">
                <a:solidFill>
                  <a:srgbClr val="FF0000"/>
                </a:solidFill>
                <a:latin typeface="Times New Roman"/>
              </a:rPr>
              <a:t>▶  </a:t>
            </a:r>
            <a:r>
              <a:rPr sz="2100">
                <a:solidFill>
                  <a:srgbClr val="000000"/>
                </a:solidFill>
                <a:latin typeface="Times New Roman"/>
              </a:rPr>
              <a:t>Pharmaceutical scientist</a:t>
            </a:r>
          </a:p>
          <a:p>
            <a:pPr>
              <a:spcBef>
                <a:spcPts val="700"/>
              </a:spcBef>
              <a:spcAft>
                <a:spcPts val="400"/>
              </a:spcAft>
            </a:pPr>
            <a:r>
              <a:rPr sz="1700" b="1">
                <a:solidFill>
                  <a:srgbClr val="FF0000"/>
                </a:solidFill>
                <a:latin typeface="Times New Roman"/>
              </a:rPr>
              <a:t>▶  </a:t>
            </a:r>
            <a:r>
              <a:rPr sz="2100">
                <a:solidFill>
                  <a:srgbClr val="000000"/>
                </a:solidFill>
                <a:latin typeface="Times New Roman"/>
              </a:rPr>
              <a:t>Quality control specialist</a:t>
            </a:r>
          </a:p>
          <a:p>
            <a:pPr>
              <a:spcBef>
                <a:spcPts val="700"/>
              </a:spcBef>
              <a:spcAft>
                <a:spcPts val="400"/>
              </a:spcAft>
            </a:pPr>
            <a:r>
              <a:rPr sz="1700" b="1">
                <a:solidFill>
                  <a:srgbClr val="FF0000"/>
                </a:solidFill>
                <a:latin typeface="Times New Roman"/>
              </a:rPr>
              <a:t>▶  </a:t>
            </a:r>
            <a:r>
              <a:rPr sz="2100">
                <a:solidFill>
                  <a:srgbClr val="000000"/>
                </a:solidFill>
                <a:latin typeface="Times New Roman"/>
              </a:rPr>
              <a:t>Regulatory affairs specialist</a:t>
            </a:r>
          </a:p>
        </p:txBody>
      </p:sp>
      <p:sp>
        <p:nvSpPr>
          <p:cNvPr id="7" name="Rectangle 6"/>
          <p:cNvSpPr/>
          <p:nvPr/>
        </p:nvSpPr>
        <p:spPr>
          <a:xfrm>
            <a:off x="6416344" y="1826056"/>
            <a:ext cx="5592471" cy="4347058"/>
          </a:xfrm>
          <a:prstGeom prst="rect">
            <a:avLst/>
          </a:prstGeom>
          <a:solidFill>
            <a:srgbClr val="DFE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6344" y="3633825"/>
            <a:ext cx="5592471" cy="731520"/>
          </a:xfrm>
          <a:prstGeom prst="rect">
            <a:avLst/>
          </a:prstGeom>
          <a:noFill/>
        </p:spPr>
        <p:txBody>
          <a:bodyPr wrap="square" tIns="0" lIns="0" rIns="0" bIns="0">
            <a:spAutoFit/>
          </a:bodyPr>
          <a:lstStyle/>
          <a:p>
            <a:pPr algn="ctr"/>
            <a:r>
              <a:rPr sz="1400" b="0" i="1">
                <a:solidFill>
                  <a:srgbClr val="44546A"/>
                </a:solidFill>
                <a:latin typeface="Times New Roman"/>
              </a:rPr>
              <a:t>[ Image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Education and Training</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16</a:t>
            </a:r>
          </a:p>
        </p:txBody>
      </p:sp>
      <p:sp>
        <p:nvSpPr>
          <p:cNvPr id="6" name="TextBox 5"/>
          <p:cNvSpPr txBox="1"/>
          <p:nvPr/>
        </p:nvSpPr>
        <p:spPr>
          <a:xfrm>
            <a:off x="1021384" y="1917496"/>
            <a:ext cx="10332720" cy="1234440"/>
          </a:xfrm>
          <a:prstGeom prst="rect">
            <a:avLst/>
          </a:prstGeom>
          <a:noFill/>
        </p:spPr>
        <p:txBody>
          <a:bodyPr wrap="square" tIns="0" lIns="0" rIns="0" bIns="0">
            <a:spAutoFit/>
          </a:bodyPr>
          <a:lstStyle/>
          <a:p>
            <a:pPr>
              <a:spcAft>
                <a:spcPts val="600"/>
              </a:spcAft>
            </a:pPr>
            <a:r>
              <a:rPr sz="2200" i="1">
                <a:solidFill>
                  <a:srgbClr val="FF0000"/>
                </a:solidFill>
                <a:latin typeface="Times New Roman"/>
              </a:rPr>
              <a:t>Education and training are critical components of a career in pharmaceutics. Some of the potential educational pathways include bachelor's and master's degrees in pharmaceutical sciences, as well as certification programs in quality control and regulatory affairs.</a:t>
            </a:r>
          </a:p>
        </p:txBody>
      </p:sp>
      <p:sp>
        <p:nvSpPr>
          <p:cNvPr id="7" name="Rectangle 6"/>
          <p:cNvSpPr/>
          <p:nvPr/>
        </p:nvSpPr>
        <p:spPr>
          <a:xfrm>
            <a:off x="1021384" y="3197656"/>
            <a:ext cx="10332720" cy="228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1384" y="3362248"/>
            <a:ext cx="10332720" cy="2838298"/>
          </a:xfrm>
          <a:prstGeom prst="rect">
            <a:avLst/>
          </a:prstGeom>
          <a:noFill/>
        </p:spPr>
        <p:txBody>
          <a:bodyPr wrap="square" tIns="0" lIns="0" rIns="0" bIns="0">
            <a:spAutoFit/>
          </a:bodyPr>
          <a:lstStyle/>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Bachelor's degree in pharmaceutical sciences</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Master's degree in pharmaceutical sciences</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Certification programs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Professional Organizations</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17</a:t>
            </a:r>
          </a:p>
        </p:txBody>
      </p:sp>
      <p:sp>
        <p:nvSpPr>
          <p:cNvPr id="6" name="Rectangle 5"/>
          <p:cNvSpPr/>
          <p:nvPr/>
        </p:nvSpPr>
        <p:spPr>
          <a:xfrm>
            <a:off x="274320" y="1826056"/>
            <a:ext cx="5029200" cy="4347058"/>
          </a:xfrm>
          <a:prstGeom prst="rect">
            <a:avLst/>
          </a:prstGeom>
          <a:solidFill>
            <a:srgbClr val="DFE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633825"/>
            <a:ext cx="5029200" cy="731520"/>
          </a:xfrm>
          <a:prstGeom prst="rect">
            <a:avLst/>
          </a:prstGeom>
          <a:noFill/>
        </p:spPr>
        <p:txBody>
          <a:bodyPr wrap="square" tIns="0" lIns="0" rIns="0" bIns="0">
            <a:spAutoFit/>
          </a:bodyPr>
          <a:lstStyle/>
          <a:p>
            <a:pPr algn="ctr"/>
            <a:r>
              <a:rPr sz="1400" b="0" i="1">
                <a:solidFill>
                  <a:srgbClr val="44546A"/>
                </a:solidFill>
                <a:latin typeface="Times New Roman"/>
              </a:rPr>
              <a:t>[ Image ]</a:t>
            </a:r>
          </a:p>
        </p:txBody>
      </p:sp>
      <p:sp>
        <p:nvSpPr>
          <p:cNvPr id="8" name="TextBox 7"/>
          <p:cNvSpPr txBox="1"/>
          <p:nvPr/>
        </p:nvSpPr>
        <p:spPr>
          <a:xfrm>
            <a:off x="6096304" y="1917496"/>
            <a:ext cx="5775351" cy="4347058"/>
          </a:xfrm>
          <a:prstGeom prst="rect">
            <a:avLst/>
          </a:prstGeom>
          <a:noFill/>
        </p:spPr>
        <p:txBody>
          <a:bodyPr wrap="square" tIns="0" lIns="0" rIns="0" bIns="0">
            <a:spAutoFit/>
          </a:bodyPr>
          <a:lstStyle/>
          <a:p>
            <a:pPr>
              <a:spcAft>
                <a:spcPts val="1000"/>
              </a:spcAft>
            </a:pPr>
            <a:r>
              <a:rPr sz="2100" i="1">
                <a:solidFill>
                  <a:srgbClr val="44546A"/>
                </a:solidFill>
                <a:latin typeface="Times New Roman"/>
              </a:rPr>
              <a:t>Professional organizations play a critical role in the field of pharmaceutics, providing networking opportunities, educational resources, and advocacy for pharmaceutical professionals. Some of the potential organizations include the American Pharmacists Association and the International Society for Pharmaceutical Engineering.</a:t>
            </a:r>
          </a:p>
          <a:p>
            <a:pPr>
              <a:spcBef>
                <a:spcPts val="600"/>
              </a:spcBef>
              <a:spcAft>
                <a:spcPts val="400"/>
              </a:spcAft>
            </a:pPr>
            <a:r>
              <a:rPr sz="1600" b="1">
                <a:solidFill>
                  <a:srgbClr val="FF0000"/>
                </a:solidFill>
                <a:latin typeface="Times New Roman"/>
              </a:rPr>
              <a:t>▶  </a:t>
            </a:r>
            <a:r>
              <a:rPr sz="2000">
                <a:solidFill>
                  <a:srgbClr val="000000"/>
                </a:solidFill>
                <a:latin typeface="Times New Roman"/>
              </a:rPr>
              <a:t>American Pharmacists Association</a:t>
            </a:r>
          </a:p>
          <a:p>
            <a:pPr>
              <a:spcBef>
                <a:spcPts val="600"/>
              </a:spcBef>
              <a:spcAft>
                <a:spcPts val="400"/>
              </a:spcAft>
            </a:pPr>
            <a:r>
              <a:rPr sz="1600" b="1">
                <a:solidFill>
                  <a:srgbClr val="FF0000"/>
                </a:solidFill>
                <a:latin typeface="Times New Roman"/>
              </a:rPr>
              <a:t>▶  </a:t>
            </a:r>
            <a:r>
              <a:rPr sz="2000">
                <a:solidFill>
                  <a:srgbClr val="000000"/>
                </a:solidFill>
                <a:latin typeface="Times New Roman"/>
              </a:rPr>
              <a:t>International Society for Pharmaceutical Engineering</a:t>
            </a:r>
          </a:p>
          <a:p>
            <a:pPr>
              <a:spcBef>
                <a:spcPts val="600"/>
              </a:spcBef>
              <a:spcAft>
                <a:spcPts val="400"/>
              </a:spcAft>
            </a:pPr>
            <a:r>
              <a:rPr sz="1600" b="1">
                <a:solidFill>
                  <a:srgbClr val="FF0000"/>
                </a:solidFill>
                <a:latin typeface="Times New Roman"/>
              </a:rPr>
              <a:t>▶  </a:t>
            </a:r>
            <a:r>
              <a:rPr sz="2000">
                <a:solidFill>
                  <a:srgbClr val="000000"/>
                </a:solidFill>
                <a:latin typeface="Times New Roman"/>
              </a:rPr>
              <a:t>Other organizations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Conclusion</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18</a:t>
            </a:r>
          </a:p>
        </p:txBody>
      </p:sp>
      <p:sp>
        <p:nvSpPr>
          <p:cNvPr id="6" name="TextBox 5"/>
          <p:cNvSpPr txBox="1"/>
          <p:nvPr/>
        </p:nvSpPr>
        <p:spPr>
          <a:xfrm>
            <a:off x="1021384" y="1917496"/>
            <a:ext cx="10332720" cy="1234440"/>
          </a:xfrm>
          <a:prstGeom prst="rect">
            <a:avLst/>
          </a:prstGeom>
          <a:noFill/>
        </p:spPr>
        <p:txBody>
          <a:bodyPr wrap="square" tIns="0" lIns="0" rIns="0" bIns="0">
            <a:spAutoFit/>
          </a:bodyPr>
          <a:lstStyle/>
          <a:p>
            <a:pPr>
              <a:spcAft>
                <a:spcPts val="600"/>
              </a:spcAft>
            </a:pPr>
            <a:r>
              <a:rPr sz="2200" i="1">
                <a:solidFill>
                  <a:srgbClr val="FF0000"/>
                </a:solidFill>
                <a:latin typeface="Times New Roman"/>
              </a:rPr>
              <a:t>In conclusion, pharmaceutics is a vital field that plays a critical role in the development and manufacture of pharmaceutical products. With its rich history, diverse applications, and promising future, pharmaceutics offers a wide range of career opportunities and educational pathways for those interested in this field.</a:t>
            </a:r>
          </a:p>
        </p:txBody>
      </p:sp>
      <p:sp>
        <p:nvSpPr>
          <p:cNvPr id="7" name="Rectangle 6"/>
          <p:cNvSpPr/>
          <p:nvPr/>
        </p:nvSpPr>
        <p:spPr>
          <a:xfrm>
            <a:off x="1021384" y="3197656"/>
            <a:ext cx="10332720" cy="228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1384" y="3362248"/>
            <a:ext cx="10332720" cy="2838298"/>
          </a:xfrm>
          <a:prstGeom prst="rect">
            <a:avLst/>
          </a:prstGeom>
          <a:noFill/>
        </p:spPr>
        <p:txBody>
          <a:bodyPr wrap="square" tIns="0" lIns="0" rIns="0" bIns="0">
            <a:spAutoFit/>
          </a:bodyPr>
          <a:lstStyle/>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Importance of pharmaceutics</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Career opportunities</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Educational pathways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References</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19</a:t>
            </a:r>
          </a:p>
        </p:txBody>
      </p:sp>
      <p:sp>
        <p:nvSpPr>
          <p:cNvPr id="6" name="TextBox 5"/>
          <p:cNvSpPr txBox="1"/>
          <p:nvPr/>
        </p:nvSpPr>
        <p:spPr>
          <a:xfrm>
            <a:off x="929944" y="1917496"/>
            <a:ext cx="5349240" cy="4347058"/>
          </a:xfrm>
          <a:prstGeom prst="rect">
            <a:avLst/>
          </a:prstGeom>
          <a:noFill/>
        </p:spPr>
        <p:txBody>
          <a:bodyPr wrap="square" tIns="0" lIns="0" rIns="0" bIns="0">
            <a:spAutoFit/>
          </a:bodyPr>
          <a:lstStyle/>
          <a:p>
            <a:pPr>
              <a:spcAft>
                <a:spcPts val="1000"/>
              </a:spcAft>
            </a:pPr>
            <a:r>
              <a:rPr sz="2100" i="1">
                <a:solidFill>
                  <a:srgbClr val="FF0000"/>
                </a:solidFill>
                <a:latin typeface="Times New Roman"/>
              </a:rPr>
              <a:t>This presentation has provided an overview of the field of pharmaceutics, including its history, applications, and future directions. For further reading and research, please refer to the following references.</a:t>
            </a:r>
          </a:p>
          <a:p>
            <a:pPr>
              <a:spcBef>
                <a:spcPts val="700"/>
              </a:spcBef>
              <a:spcAft>
                <a:spcPts val="400"/>
              </a:spcAft>
            </a:pPr>
            <a:r>
              <a:rPr sz="1700" b="1">
                <a:solidFill>
                  <a:srgbClr val="FF0000"/>
                </a:solidFill>
                <a:latin typeface="Times New Roman"/>
              </a:rPr>
              <a:t>▶  </a:t>
            </a:r>
            <a:r>
              <a:rPr sz="2100">
                <a:solidFill>
                  <a:srgbClr val="000000"/>
                </a:solidFill>
                <a:latin typeface="Times New Roman"/>
              </a:rPr>
              <a:t>Textbooks and journals</a:t>
            </a:r>
          </a:p>
          <a:p>
            <a:pPr>
              <a:spcBef>
                <a:spcPts val="700"/>
              </a:spcBef>
              <a:spcAft>
                <a:spcPts val="400"/>
              </a:spcAft>
            </a:pPr>
            <a:r>
              <a:rPr sz="1700" b="1">
                <a:solidFill>
                  <a:srgbClr val="FF0000"/>
                </a:solidFill>
                <a:latin typeface="Times New Roman"/>
              </a:rPr>
              <a:t>▶  </a:t>
            </a:r>
            <a:r>
              <a:rPr sz="2100">
                <a:solidFill>
                  <a:srgbClr val="000000"/>
                </a:solidFill>
                <a:latin typeface="Times New Roman"/>
              </a:rPr>
              <a:t>Online resources</a:t>
            </a:r>
          </a:p>
          <a:p>
            <a:pPr>
              <a:spcBef>
                <a:spcPts val="700"/>
              </a:spcBef>
              <a:spcAft>
                <a:spcPts val="400"/>
              </a:spcAft>
            </a:pPr>
            <a:r>
              <a:rPr sz="1700" b="1">
                <a:solidFill>
                  <a:srgbClr val="FF0000"/>
                </a:solidFill>
                <a:latin typeface="Times New Roman"/>
              </a:rPr>
              <a:t>▶  </a:t>
            </a:r>
            <a:r>
              <a:rPr sz="2100">
                <a:solidFill>
                  <a:srgbClr val="000000"/>
                </a:solidFill>
                <a:latin typeface="Times New Roman"/>
              </a:rPr>
              <a:t>Professional organizations</a:t>
            </a:r>
          </a:p>
        </p:txBody>
      </p:sp>
      <p:sp>
        <p:nvSpPr>
          <p:cNvPr id="7" name="Rectangle 6"/>
          <p:cNvSpPr/>
          <p:nvPr/>
        </p:nvSpPr>
        <p:spPr>
          <a:xfrm>
            <a:off x="6416344" y="1826056"/>
            <a:ext cx="5592471" cy="4347058"/>
          </a:xfrm>
          <a:prstGeom prst="rect">
            <a:avLst/>
          </a:prstGeom>
          <a:solidFill>
            <a:srgbClr val="DFE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6344" y="3633825"/>
            <a:ext cx="5592471" cy="731520"/>
          </a:xfrm>
          <a:prstGeom prst="rect">
            <a:avLst/>
          </a:prstGeom>
          <a:noFill/>
        </p:spPr>
        <p:txBody>
          <a:bodyPr wrap="square" tIns="0" lIns="0" rIns="0" bIns="0">
            <a:spAutoFit/>
          </a:bodyPr>
          <a:lstStyle/>
          <a:p>
            <a:pPr algn="ctr"/>
            <a:r>
              <a:rPr sz="1400" b="0" i="1">
                <a:solidFill>
                  <a:srgbClr val="44546A"/>
                </a:solidFill>
                <a:latin typeface="Times New Roman"/>
              </a:rPr>
              <a:t>[ Image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10360152" cy="1371600"/>
          </a:xfrm>
          <a:prstGeom prst="rect">
            <a:avLst/>
          </a:prstGeom>
          <a:noFill/>
        </p:spPr>
        <p:txBody>
          <a:bodyPr wrap="square" tIns="0" lIns="0" rIns="0" bIns="0">
            <a:spAutoFit/>
          </a:bodyPr>
          <a:lstStyle/>
          <a:p>
            <a:pPr algn="ctr"/>
            <a:r>
              <a:rPr sz="5400" b="1" i="0">
                <a:solidFill>
                  <a:srgbClr val="FF0000"/>
                </a:solidFill>
                <a:latin typeface="Times New Roman"/>
              </a:rPr>
              <a:t>THANK YOU</a:t>
            </a:r>
          </a:p>
        </p:txBody>
      </p:sp>
      <p:sp>
        <p:nvSpPr>
          <p:cNvPr id="3" name="TextBox 2"/>
          <p:cNvSpPr txBox="1"/>
          <p:nvPr/>
        </p:nvSpPr>
        <p:spPr>
          <a:xfrm>
            <a:off x="914400" y="3840480"/>
            <a:ext cx="10360152" cy="640080"/>
          </a:xfrm>
          <a:prstGeom prst="rect">
            <a:avLst/>
          </a:prstGeom>
          <a:noFill/>
        </p:spPr>
        <p:txBody>
          <a:bodyPr wrap="square" tIns="0" lIns="0" rIns="0" bIns="0">
            <a:spAutoFit/>
          </a:bodyPr>
          <a:lstStyle/>
          <a:p>
            <a:pPr algn="ctr"/>
            <a:r>
              <a:rPr sz="2200" b="0" i="0">
                <a:solidFill>
                  <a:srgbClr val="44546A"/>
                </a:solidFill>
                <a:latin typeface="Times New Roman"/>
              </a:rPr>
              <a:t>introduction of pharmaceutics</a:t>
            </a:r>
          </a:p>
        </p:txBody>
      </p:sp>
      <p:sp>
        <p:nvSpPr>
          <p:cNvPr id="4" name="TextBox 3"/>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5" name="TextBox 4"/>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6" name="TextBox 5"/>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