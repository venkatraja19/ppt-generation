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ctr"/>
            <a:r>
              <a:rPr sz="4000" b="1" i="0">
                <a:solidFill>
                  <a:srgbClr val="FF0000"/>
                </a:solidFill>
                <a:latin typeface="Times New Roman"/>
              </a:rPr>
              <a:t>THYROID DISEASES - PHARMACOTHERAPEUTICS-1</a:t>
            </a:r>
          </a:p>
        </p:txBody>
      </p:sp>
      <p:sp>
        <p:nvSpPr>
          <p:cNvPr id="3" name="TextBox 2"/>
          <p:cNvSpPr txBox="1"/>
          <p:nvPr/>
        </p:nvSpPr>
        <p:spPr>
          <a:xfrm>
            <a:off x="838504" y="1828800"/>
            <a:ext cx="10515600" cy="2743200"/>
          </a:xfrm>
          <a:prstGeom prst="rect">
            <a:avLst/>
          </a:prstGeom>
          <a:noFill/>
        </p:spPr>
        <p:txBody>
          <a:bodyPr wrap="square" tIns="0" lIns="0" rIns="0" bIns="0">
            <a:spAutoFit/>
          </a:bodyPr>
          <a:lstStyle/>
          <a:p>
            <a:pPr algn="ctr">
              <a:spcBef>
                <a:spcPts val="400"/>
              </a:spcBef>
              <a:spcAft>
                <a:spcPts val="400"/>
              </a:spcAft>
            </a:pPr>
            <a:r>
              <a:rPr sz="3200" b="1">
                <a:solidFill>
                  <a:srgbClr val="000000"/>
                </a:solidFill>
                <a:latin typeface="Times New Roman"/>
              </a:rPr>
              <a:t>Introduction to Thyroid Diseases</a:t>
            </a:r>
          </a:p>
          <a:p>
            <a:pPr algn="ctr">
              <a:spcBef>
                <a:spcPts val="400"/>
              </a:spcBef>
              <a:spcAft>
                <a:spcPts val="400"/>
              </a:spcAft>
            </a:pPr>
            <a:r>
              <a:rPr sz="3200" b="1">
                <a:solidFill>
                  <a:srgbClr val="000000"/>
                </a:solidFill>
                <a:latin typeface="Times New Roman"/>
              </a:rPr>
              <a:t>Hypothyroidism Overview</a:t>
            </a:r>
          </a:p>
          <a:p>
            <a:pPr algn="ctr">
              <a:spcBef>
                <a:spcPts val="400"/>
              </a:spcBef>
              <a:spcAft>
                <a:spcPts val="400"/>
              </a:spcAft>
            </a:pPr>
            <a:r>
              <a:rPr sz="3200" b="1">
                <a:solidFill>
                  <a:srgbClr val="000000"/>
                </a:solidFill>
                <a:latin typeface="Times New Roman"/>
              </a:rPr>
              <a:t>Hyperthyroidism Overview</a:t>
            </a:r>
          </a:p>
          <a:p>
            <a:pPr algn="ctr">
              <a:spcBef>
                <a:spcPts val="400"/>
              </a:spcBef>
              <a:spcAft>
                <a:spcPts val="400"/>
              </a:spcAft>
            </a:pPr>
            <a:r>
              <a:rPr sz="3200" b="1">
                <a:solidFill>
                  <a:srgbClr val="000000"/>
                </a:solidFill>
                <a:latin typeface="Times New Roman"/>
              </a:rPr>
              <a:t>Thyroid Hormone Replacement Therapy</a:t>
            </a:r>
          </a:p>
        </p:txBody>
      </p:sp>
      <p:sp>
        <p:nvSpPr>
          <p:cNvPr id="4" name="TextBox 3"/>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5" name="TextBox 4"/>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6" name="TextBox 5"/>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Introduction to Thyroid Diseases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2</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Thyroid diseases affect the thyroid gland, which plays a crucial role in regulating metabolism. The most common thyroid diseases include hypothyroidism and hyperthyroidism. Understanding these conditions is essential for effective management.</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Hypothyroidism: underproduction of thyroid hormones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Hyperthyroidism: overproduction of thyroid hormones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Thyroiditis: inflammation of the thyroid gland</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Thyroid cancer: abnormal cell growth in the thyroid gland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Hypothyroidism Overview</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3</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Hypothyroidism occurs when the thyroid gland does not produce enough thyroid hormones, leading to a decrease in metabolic rate. This condition can be caused by autoimmune diseases, radiation therapy, or surgical removal of the thyroid gland.</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Fatigue and weakness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Weight gain and dry skin</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Cold intolerance and hair loss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Depression and memory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Hyperthyroidism Overview</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4</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Hyperthyroidism is characterized by an overproduction of thyroid hormones, leading to an increase in metabolic rate. This condition can be caused by Graves' disease, thyroid nodules, or excessive intake of thyroid hormones.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Weight loss and increased appetite</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Rapid heartbeat and tremors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Nervousness and anxiety</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Heat intolerance and sweating</a:t>
            </a:r>
          </a:p>
        </p:txBody>
      </p:sp>
      <p:pic>
        <p:nvPicPr>
          <p:cNvPr id="7" name="Picture 6" descr="image.png"/>
          <p:cNvPicPr>
            <a:picLocks noChangeAspect="1"/>
          </p:cNvPicPr>
          <p:nvPr/>
        </p:nvPicPr>
        <p:blipFill>
          <a:blip r:embed="rId2"/>
          <a:stretch>
            <a:fillRect/>
          </a:stretch>
        </p:blipFill>
        <p:spPr>
          <a:xfrm>
            <a:off x="6416344" y="1826056"/>
            <a:ext cx="5592471" cy="434705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Thyroid Hormone Replacement Therapy</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5</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Thyroid hormone replacement therapy is used to treat hypothyroidism. This therapy involves taking synthetic thyroid hormones to replace the missing hormones and restore normal metabolic function.</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Levothyroxine (T4) and liothyronine (T3) are commonly used synthetic hormones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Dosage is individualized based on patient needs and response</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Regular monitoring of thyroid function is necessary to adjust dosage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Antithyroid Medications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6</a:t>
            </a:r>
          </a:p>
        </p:txBody>
      </p:sp>
      <p:pic>
        <p:nvPicPr>
          <p:cNvPr id="6" name="Picture 5" descr="image.jpg"/>
          <p:cNvPicPr>
            <a:picLocks noChangeAspect="1"/>
          </p:cNvPicPr>
          <p:nvPr/>
        </p:nvPicPr>
        <p:blipFill>
          <a:blip r:embed="rId2"/>
          <a:stretch>
            <a:fillRect/>
          </a:stretch>
        </p:blipFill>
        <p:spPr>
          <a:xfrm>
            <a:off x="274320" y="1826056"/>
            <a:ext cx="5029200" cy="4347058"/>
          </a:xfrm>
          <a:prstGeom prst="rect">
            <a:avLst/>
          </a:prstGeom>
        </p:spPr>
      </p:pic>
      <p:sp>
        <p:nvSpPr>
          <p:cNvPr id="7" name="TextBox 6"/>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Antithyroid medications are used to treat hyperthyroidism. These medications work by reducing the production of thyroid hormones or blocking their effects on the body.</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Methimazole and propylthiouracil are commonly used antithyroid medications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These medications can cause side effects such as rash, itching, and liver damage</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Regular monitoring of thyroid function and liver function is necessary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Radioactive Iodine Therapy</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7</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Radioactive iodine therapy is used to treat hyperthyroidism and certain types of thyroid cancer. This therapy involves taking a radioactive form of iodine, which destroys part or all of the thyroid gland.</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This therapy is usually used for patients who cannot tolerate antithyroid medications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It can cause side effects such as nausea, vomiting, and neck pain</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Regular monitoring of thyroid function is necessary after therapy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Surgical Treatment of Thyroid Diseases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8</a:t>
            </a:r>
          </a:p>
        </p:txBody>
      </p:sp>
      <p:sp>
        <p:nvSpPr>
          <p:cNvPr id="6" name="TextBox 5"/>
          <p:cNvSpPr txBox="1"/>
          <p:nvPr/>
        </p:nvSpPr>
        <p:spPr>
          <a:xfrm>
            <a:off x="929944" y="1917496"/>
            <a:ext cx="5349240" cy="4347058"/>
          </a:xfrm>
          <a:prstGeom prst="rect">
            <a:avLst/>
          </a:prstGeom>
          <a:noFill/>
        </p:spPr>
        <p:txBody>
          <a:bodyPr wrap="square" tIns="0" lIns="0" rIns="0" bIns="0">
            <a:spAutoFit/>
          </a:bodyPr>
          <a:lstStyle/>
          <a:p>
            <a:pPr>
              <a:spcAft>
                <a:spcPts val="1000"/>
              </a:spcAft>
            </a:pPr>
            <a:r>
              <a:rPr sz="2100" i="1">
                <a:solidFill>
                  <a:srgbClr val="FF0000"/>
                </a:solidFill>
                <a:latin typeface="Times New Roman"/>
              </a:rPr>
              <a:t>Surgical treatment is used to remove part or all of the thyroid gland in cases of thyroid cancer, large goiters, or hyperthyroidism that does not respond to other treatments.</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Thyroidectomy is the surgical removal of the thyroid gland</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This surgery can cause side effects such as hoarseness, neck pain, and hypocalcemia</a:t>
            </a:r>
          </a:p>
          <a:p>
            <a:pPr>
              <a:spcBef>
                <a:spcPts val="700"/>
              </a:spcBef>
              <a:spcAft>
                <a:spcPts val="400"/>
              </a:spcAft>
            </a:pPr>
            <a:r>
              <a:rPr sz="1700" b="1">
                <a:solidFill>
                  <a:srgbClr val="FF0000"/>
                </a:solidFill>
                <a:latin typeface="Times New Roman"/>
              </a:rPr>
              <a:t>▶  </a:t>
            </a:r>
            <a:r>
              <a:rPr sz="2100">
                <a:solidFill>
                  <a:srgbClr val="000000"/>
                </a:solidFill>
                <a:latin typeface="Times New Roman"/>
              </a:rPr>
              <a:t>Regular monitoring of thyroid function and calcium levels is necessary after surgery</a:t>
            </a:r>
          </a:p>
        </p:txBody>
      </p:sp>
      <p:pic>
        <p:nvPicPr>
          <p:cNvPr id="7" name="Picture 6" descr="image.jpg"/>
          <p:cNvPicPr>
            <a:picLocks noChangeAspect="1"/>
          </p:cNvPicPr>
          <p:nvPr/>
        </p:nvPicPr>
        <p:blipFill>
          <a:blip r:embed="rId2"/>
          <a:stretch>
            <a:fillRect/>
          </a:stretch>
        </p:blipFill>
        <p:spPr>
          <a:xfrm>
            <a:off x="6416344" y="1826056"/>
            <a:ext cx="5592471" cy="434705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Treatment Algorithm for Thyroid Diseases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9</a:t>
            </a:r>
          </a:p>
        </p:txBody>
      </p:sp>
      <p:sp>
        <p:nvSpPr>
          <p:cNvPr id="6" name="TextBox 5"/>
          <p:cNvSpPr txBox="1"/>
          <p:nvPr/>
        </p:nvSpPr>
        <p:spPr>
          <a:xfrm>
            <a:off x="1021384" y="1871776"/>
            <a:ext cx="10149840" cy="548640"/>
          </a:xfrm>
          <a:prstGeom prst="rect">
            <a:avLst/>
          </a:prstGeom>
          <a:noFill/>
        </p:spPr>
        <p:txBody>
          <a:bodyPr wrap="square" tIns="0" lIns="0" rIns="0" bIns="0">
            <a:spAutoFit/>
          </a:bodyPr>
          <a:lstStyle/>
          <a:p>
            <a:pPr algn="l"/>
            <a:r>
              <a:rPr sz="1800" b="0" i="1">
                <a:solidFill>
                  <a:srgbClr val="44546A"/>
                </a:solidFill>
                <a:latin typeface="Times New Roman"/>
              </a:rPr>
              <a:t>The treatment algorithm for thyroid diseases involves a step-by-step approach to diagnose and manage the condition.</a:t>
            </a:r>
          </a:p>
        </p:txBody>
      </p:sp>
      <p:sp>
        <p:nvSpPr>
          <p:cNvPr id="7" name="Rounded Rectangle 6"/>
          <p:cNvSpPr/>
          <p:nvPr/>
        </p:nvSpPr>
        <p:spPr>
          <a:xfrm>
            <a:off x="2013508" y="2944368"/>
            <a:ext cx="347472" cy="347472"/>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35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1</a:t>
            </a:r>
          </a:p>
        </p:txBody>
      </p:sp>
      <p:sp>
        <p:nvSpPr>
          <p:cNvPr id="9" name="Rounded Rectangle 8"/>
          <p:cNvSpPr/>
          <p:nvPr/>
        </p:nvSpPr>
        <p:spPr>
          <a:xfrm>
            <a:off x="1135684" y="3337560"/>
            <a:ext cx="2103120" cy="118872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8836" y="3447288"/>
            <a:ext cx="1956816" cy="1005840"/>
          </a:xfrm>
          <a:prstGeom prst="rect">
            <a:avLst/>
          </a:prstGeom>
          <a:noFill/>
        </p:spPr>
        <p:txBody>
          <a:bodyPr wrap="square" tIns="0" lIns="0" rIns="0" bIns="0">
            <a:spAutoFit/>
          </a:bodyPr>
          <a:lstStyle/>
          <a:p>
            <a:pPr algn="ctr"/>
            <a:r>
              <a:rPr sz="1300" b="0" i="0">
                <a:solidFill>
                  <a:srgbClr val="FFFFFF"/>
                </a:solidFill>
                <a:latin typeface="Times New Roman"/>
              </a:rPr>
              <a:t>Diagnose thyroid disease</a:t>
            </a:r>
          </a:p>
        </p:txBody>
      </p:sp>
      <p:sp>
        <p:nvSpPr>
          <p:cNvPr id="11" name="TextBox 10"/>
          <p:cNvSpPr txBox="1"/>
          <p:nvPr/>
        </p:nvSpPr>
        <p:spPr>
          <a:xfrm>
            <a:off x="32388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2" name="Rounded Rectangle 11"/>
          <p:cNvSpPr/>
          <p:nvPr/>
        </p:nvSpPr>
        <p:spPr>
          <a:xfrm>
            <a:off x="4528108" y="2944368"/>
            <a:ext cx="347472"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81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2</a:t>
            </a:r>
          </a:p>
        </p:txBody>
      </p:sp>
      <p:sp>
        <p:nvSpPr>
          <p:cNvPr id="14" name="Rounded Rectangle 13"/>
          <p:cNvSpPr/>
          <p:nvPr/>
        </p:nvSpPr>
        <p:spPr>
          <a:xfrm>
            <a:off x="3650284" y="3337560"/>
            <a:ext cx="2103120" cy="11887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23436" y="3447288"/>
            <a:ext cx="1956816" cy="1005840"/>
          </a:xfrm>
          <a:prstGeom prst="rect">
            <a:avLst/>
          </a:prstGeom>
          <a:noFill/>
        </p:spPr>
        <p:txBody>
          <a:bodyPr wrap="square" tIns="0" lIns="0" rIns="0" bIns="0">
            <a:spAutoFit/>
          </a:bodyPr>
          <a:lstStyle/>
          <a:p>
            <a:pPr algn="ctr"/>
            <a:r>
              <a:rPr sz="1100" b="0" i="0">
                <a:solidFill>
                  <a:srgbClr val="FFFFFF"/>
                </a:solidFill>
                <a:latin typeface="Times New Roman"/>
              </a:rPr>
              <a:t>Determine the underlying cause</a:t>
            </a:r>
          </a:p>
        </p:txBody>
      </p:sp>
      <p:sp>
        <p:nvSpPr>
          <p:cNvPr id="16" name="TextBox 15"/>
          <p:cNvSpPr txBox="1"/>
          <p:nvPr/>
        </p:nvSpPr>
        <p:spPr>
          <a:xfrm>
            <a:off x="57534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17" name="Rounded Rectangle 16"/>
          <p:cNvSpPr/>
          <p:nvPr/>
        </p:nvSpPr>
        <p:spPr>
          <a:xfrm>
            <a:off x="7042708" y="2944368"/>
            <a:ext cx="347472"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27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3</a:t>
            </a:r>
          </a:p>
        </p:txBody>
      </p:sp>
      <p:sp>
        <p:nvSpPr>
          <p:cNvPr id="19" name="Rounded Rectangle 18"/>
          <p:cNvSpPr/>
          <p:nvPr/>
        </p:nvSpPr>
        <p:spPr>
          <a:xfrm>
            <a:off x="6164884" y="3337560"/>
            <a:ext cx="2103120" cy="11887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8036" y="3447288"/>
            <a:ext cx="1956816" cy="1005840"/>
          </a:xfrm>
          <a:prstGeom prst="rect">
            <a:avLst/>
          </a:prstGeom>
          <a:noFill/>
        </p:spPr>
        <p:txBody>
          <a:bodyPr wrap="square" tIns="0" lIns="0" rIns="0" bIns="0">
            <a:spAutoFit/>
          </a:bodyPr>
          <a:lstStyle/>
          <a:p>
            <a:pPr algn="ctr"/>
            <a:r>
              <a:rPr sz="900" b="0" i="0">
                <a:solidFill>
                  <a:srgbClr val="FFFFFF"/>
                </a:solidFill>
                <a:latin typeface="Times New Roman"/>
              </a:rPr>
              <a:t>Choose the appropriate treatment option</a:t>
            </a:r>
          </a:p>
        </p:txBody>
      </p:sp>
      <p:sp>
        <p:nvSpPr>
          <p:cNvPr id="21" name="TextBox 20"/>
          <p:cNvSpPr txBox="1"/>
          <p:nvPr/>
        </p:nvSpPr>
        <p:spPr>
          <a:xfrm>
            <a:off x="8268004" y="3730752"/>
            <a:ext cx="411480" cy="402336"/>
          </a:xfrm>
          <a:prstGeom prst="rect">
            <a:avLst/>
          </a:prstGeom>
          <a:noFill/>
        </p:spPr>
        <p:txBody>
          <a:bodyPr wrap="square" tIns="0" lIns="0" rIns="0" bIns="0">
            <a:spAutoFit/>
          </a:bodyPr>
          <a:lstStyle/>
          <a:p>
            <a:pPr algn="ctr"/>
            <a:r>
              <a:rPr sz="2200" b="1" i="0">
                <a:solidFill>
                  <a:srgbClr val="FF0000"/>
                </a:solidFill>
                <a:latin typeface="Times New Roman"/>
              </a:rPr>
              <a:t>→</a:t>
            </a:r>
          </a:p>
        </p:txBody>
      </p:sp>
      <p:sp>
        <p:nvSpPr>
          <p:cNvPr id="22" name="Rounded Rectangle 21"/>
          <p:cNvSpPr/>
          <p:nvPr/>
        </p:nvSpPr>
        <p:spPr>
          <a:xfrm>
            <a:off x="9557308" y="2944368"/>
            <a:ext cx="347472" cy="34747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57308" y="2944368"/>
            <a:ext cx="347472" cy="347472"/>
          </a:xfrm>
          <a:prstGeom prst="rect">
            <a:avLst/>
          </a:prstGeom>
          <a:noFill/>
        </p:spPr>
        <p:txBody>
          <a:bodyPr wrap="square" tIns="0" lIns="0" rIns="0" bIns="0">
            <a:spAutoFit/>
          </a:bodyPr>
          <a:lstStyle/>
          <a:p>
            <a:pPr algn="ctr"/>
            <a:r>
              <a:rPr sz="1200" b="1" i="0">
                <a:solidFill>
                  <a:srgbClr val="FFFFFF"/>
                </a:solidFill>
                <a:latin typeface="Times New Roman"/>
              </a:rPr>
              <a:t>4</a:t>
            </a:r>
          </a:p>
        </p:txBody>
      </p:sp>
      <p:sp>
        <p:nvSpPr>
          <p:cNvPr id="24" name="Rounded Rectangle 23"/>
          <p:cNvSpPr/>
          <p:nvPr/>
        </p:nvSpPr>
        <p:spPr>
          <a:xfrm>
            <a:off x="8679484" y="3337560"/>
            <a:ext cx="2103120" cy="11887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52636" y="3447288"/>
            <a:ext cx="1956816" cy="1005840"/>
          </a:xfrm>
          <a:prstGeom prst="rect">
            <a:avLst/>
          </a:prstGeom>
          <a:noFill/>
        </p:spPr>
        <p:txBody>
          <a:bodyPr wrap="square" tIns="0" lIns="0" rIns="0" bIns="0">
            <a:spAutoFit/>
          </a:bodyPr>
          <a:lstStyle/>
          <a:p>
            <a:pPr algn="ctr"/>
            <a:r>
              <a:rPr sz="900" b="0" i="0">
                <a:solidFill>
                  <a:srgbClr val="FFFFFF"/>
                </a:solidFill>
                <a:latin typeface="Times New Roman"/>
              </a:rPr>
              <a:t>Monitor thyroid function and adjust treatment as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Thyroid Disease Management</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10</a:t>
            </a:r>
          </a:p>
        </p:txBody>
      </p:sp>
      <p:sp>
        <p:nvSpPr>
          <p:cNvPr id="6" name="TextBox 5"/>
          <p:cNvSpPr txBox="1"/>
          <p:nvPr/>
        </p:nvSpPr>
        <p:spPr>
          <a:xfrm>
            <a:off x="1021384" y="1917496"/>
            <a:ext cx="10332720" cy="1234440"/>
          </a:xfrm>
          <a:prstGeom prst="rect">
            <a:avLst/>
          </a:prstGeom>
          <a:noFill/>
        </p:spPr>
        <p:txBody>
          <a:bodyPr wrap="square" tIns="0" lIns="0" rIns="0" bIns="0">
            <a:spAutoFit/>
          </a:bodyPr>
          <a:lstStyle/>
          <a:p>
            <a:pPr>
              <a:spcAft>
                <a:spcPts val="600"/>
              </a:spcAft>
            </a:pPr>
            <a:r>
              <a:rPr sz="2200" i="1">
                <a:solidFill>
                  <a:srgbClr val="FF0000"/>
                </a:solidFill>
                <a:latin typeface="Times New Roman"/>
              </a:rPr>
              <a:t>Thyroid disease management involves a comprehensive approach to diagnose, treat, and monitor the condition. This includes lifestyle modifications, medication adherence, and regular follow-up appointments.</a:t>
            </a:r>
          </a:p>
        </p:txBody>
      </p:sp>
      <p:sp>
        <p:nvSpPr>
          <p:cNvPr id="7" name="Rectangle 6"/>
          <p:cNvSpPr/>
          <p:nvPr/>
        </p:nvSpPr>
        <p:spPr>
          <a:xfrm>
            <a:off x="1021384" y="3197656"/>
            <a:ext cx="10332720" cy="2286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1384" y="3362248"/>
            <a:ext cx="10332720" cy="2838298"/>
          </a:xfrm>
          <a:prstGeom prst="rect">
            <a:avLst/>
          </a:prstGeom>
          <a:noFill/>
        </p:spPr>
        <p:txBody>
          <a:bodyPr wrap="square" tIns="0" lIns="0" rIns="0" bIns="0">
            <a:spAutoFit/>
          </a:bodyPr>
          <a:lstStyle/>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Maintain a healthy diet and exercise regularly</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Take medications as directed and attend follow-up appointments</a:t>
            </a:r>
          </a:p>
          <a:p>
            <a:pPr algn="l">
              <a:spcBef>
                <a:spcPts val="700"/>
              </a:spcBef>
              <a:spcAft>
                <a:spcPts val="300"/>
              </a:spcAft>
            </a:pPr>
            <a:r>
              <a:rPr sz="1700" b="1">
                <a:solidFill>
                  <a:srgbClr val="FF0000"/>
                </a:solidFill>
                <a:latin typeface="Times New Roman"/>
              </a:rPr>
              <a:t>▶  </a:t>
            </a:r>
            <a:r>
              <a:rPr sz="2100">
                <a:solidFill>
                  <a:srgbClr val="000000"/>
                </a:solidFill>
                <a:latin typeface="Times New Roman"/>
              </a:rPr>
              <a:t>Monitor thyroid function and adjust treatment as needed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38504" y="364845"/>
            <a:ext cx="10515600" cy="1325880"/>
          </a:xfrm>
          <a:prstGeom prst="rect">
            <a:avLst/>
          </a:prstGeom>
          <a:noFill/>
        </p:spPr>
        <p:txBody>
          <a:bodyPr wrap="square" tIns="0" lIns="0" rIns="0" bIns="0">
            <a:spAutoFit/>
          </a:bodyPr>
          <a:lstStyle/>
          <a:p>
            <a:pPr algn="l"/>
            <a:r>
              <a:rPr sz="3600" b="1" i="0">
                <a:solidFill>
                  <a:srgbClr val="FF0000"/>
                </a:solidFill>
                <a:latin typeface="Times New Roman"/>
              </a:rPr>
              <a:t>Conclusion and Future Directions</a:t>
            </a:r>
          </a:p>
        </p:txBody>
      </p:sp>
      <p:sp>
        <p:nvSpPr>
          <p:cNvPr id="3" name="TextBox 2"/>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4" name="TextBox 3"/>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5" name="TextBox 4"/>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11</a:t>
            </a:r>
          </a:p>
        </p:txBody>
      </p:sp>
      <p:pic>
        <p:nvPicPr>
          <p:cNvPr id="6" name="Picture 5" descr="image.jpg"/>
          <p:cNvPicPr>
            <a:picLocks noChangeAspect="1"/>
          </p:cNvPicPr>
          <p:nvPr/>
        </p:nvPicPr>
        <p:blipFill>
          <a:blip r:embed="rId2"/>
          <a:stretch>
            <a:fillRect/>
          </a:stretch>
        </p:blipFill>
        <p:spPr>
          <a:xfrm>
            <a:off x="274320" y="1826056"/>
            <a:ext cx="5029200" cy="4347058"/>
          </a:xfrm>
          <a:prstGeom prst="rect">
            <a:avLst/>
          </a:prstGeom>
        </p:spPr>
      </p:pic>
      <p:sp>
        <p:nvSpPr>
          <p:cNvPr id="7" name="TextBox 6"/>
          <p:cNvSpPr txBox="1"/>
          <p:nvPr/>
        </p:nvSpPr>
        <p:spPr>
          <a:xfrm>
            <a:off x="6096304" y="1917496"/>
            <a:ext cx="5775351" cy="4347058"/>
          </a:xfrm>
          <a:prstGeom prst="rect">
            <a:avLst/>
          </a:prstGeom>
          <a:noFill/>
        </p:spPr>
        <p:txBody>
          <a:bodyPr wrap="square" tIns="0" lIns="0" rIns="0" bIns="0">
            <a:spAutoFit/>
          </a:bodyPr>
          <a:lstStyle/>
          <a:p>
            <a:pPr>
              <a:spcAft>
                <a:spcPts val="1000"/>
              </a:spcAft>
            </a:pPr>
            <a:r>
              <a:rPr sz="2100" i="1">
                <a:solidFill>
                  <a:srgbClr val="44546A"/>
                </a:solidFill>
                <a:latin typeface="Times New Roman"/>
              </a:rPr>
              <a:t>In conclusion, thyroid diseases are complex conditions that require a comprehensive approach to diagnosis, treatment, and management. Future research should focus on developing new treatments and improving patient outcomes.</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New treatments such as gene therapy and stem cell therapy are being explored</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Improving patient education and awareness is essential for effective management</a:t>
            </a:r>
          </a:p>
          <a:p>
            <a:pPr>
              <a:spcBef>
                <a:spcPts val="600"/>
              </a:spcBef>
              <a:spcAft>
                <a:spcPts val="400"/>
              </a:spcAft>
            </a:pPr>
            <a:r>
              <a:rPr sz="1600" b="1">
                <a:solidFill>
                  <a:srgbClr val="FF0000"/>
                </a:solidFill>
                <a:latin typeface="Times New Roman"/>
              </a:rPr>
              <a:t>▶  </a:t>
            </a:r>
            <a:r>
              <a:rPr sz="2000">
                <a:solidFill>
                  <a:srgbClr val="000000"/>
                </a:solidFill>
                <a:latin typeface="Times New Roman"/>
              </a:rPr>
              <a:t>Continued research is necessary to improve our understanding of thyroid diseases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0152" cy="1371600"/>
          </a:xfrm>
          <a:prstGeom prst="rect">
            <a:avLst/>
          </a:prstGeom>
          <a:noFill/>
        </p:spPr>
        <p:txBody>
          <a:bodyPr wrap="square" tIns="0" lIns="0" rIns="0" bIns="0">
            <a:spAutoFit/>
          </a:bodyPr>
          <a:lstStyle/>
          <a:p>
            <a:pPr algn="ctr"/>
            <a:r>
              <a:rPr sz="5400" b="1" i="0">
                <a:solidFill>
                  <a:srgbClr val="FF0000"/>
                </a:solidFill>
                <a:latin typeface="Times New Roman"/>
              </a:rPr>
              <a:t>THANK YOU</a:t>
            </a:r>
          </a:p>
        </p:txBody>
      </p:sp>
      <p:sp>
        <p:nvSpPr>
          <p:cNvPr id="3" name="TextBox 2"/>
          <p:cNvSpPr txBox="1"/>
          <p:nvPr/>
        </p:nvSpPr>
        <p:spPr>
          <a:xfrm>
            <a:off x="914400" y="3840480"/>
            <a:ext cx="10360152" cy="640080"/>
          </a:xfrm>
          <a:prstGeom prst="rect">
            <a:avLst/>
          </a:prstGeom>
          <a:noFill/>
        </p:spPr>
        <p:txBody>
          <a:bodyPr wrap="square" tIns="0" lIns="0" rIns="0" bIns="0">
            <a:spAutoFit/>
          </a:bodyPr>
          <a:lstStyle/>
          <a:p>
            <a:pPr algn="ctr"/>
            <a:r>
              <a:rPr sz="2200" b="0" i="0">
                <a:solidFill>
                  <a:srgbClr val="44546A"/>
                </a:solidFill>
                <a:latin typeface="Times New Roman"/>
              </a:rPr>
              <a:t>Thyroid Diseases - Pharmacotherapeutics-1</a:t>
            </a:r>
          </a:p>
        </p:txBody>
      </p:sp>
      <p:sp>
        <p:nvSpPr>
          <p:cNvPr id="4" name="TextBox 3"/>
          <p:cNvSpPr txBox="1"/>
          <p:nvPr/>
        </p:nvSpPr>
        <p:spPr>
          <a:xfrm>
            <a:off x="838504" y="6355994"/>
            <a:ext cx="2743200" cy="364845"/>
          </a:xfrm>
          <a:prstGeom prst="rect">
            <a:avLst/>
          </a:prstGeom>
          <a:noFill/>
        </p:spPr>
        <p:txBody>
          <a:bodyPr wrap="square" tIns="0" lIns="0" rIns="0" bIns="0">
            <a:spAutoFit/>
          </a:bodyPr>
          <a:lstStyle/>
          <a:p>
            <a:pPr algn="l"/>
            <a:r>
              <a:rPr sz="1200" b="0" i="0">
                <a:solidFill>
                  <a:srgbClr val="59687A"/>
                </a:solidFill>
                <a:latin typeface="Times New Roman"/>
              </a:rPr>
              <a:t>05/05/2026</a:t>
            </a:r>
          </a:p>
        </p:txBody>
      </p:sp>
      <p:sp>
        <p:nvSpPr>
          <p:cNvPr id="5" name="TextBox 4"/>
          <p:cNvSpPr txBox="1"/>
          <p:nvPr/>
        </p:nvSpPr>
        <p:spPr>
          <a:xfrm>
            <a:off x="4038904" y="6355994"/>
            <a:ext cx="4114800" cy="364845"/>
          </a:xfrm>
          <a:prstGeom prst="rect">
            <a:avLst/>
          </a:prstGeom>
          <a:noFill/>
        </p:spPr>
        <p:txBody>
          <a:bodyPr wrap="square" tIns="0" lIns="0" rIns="0" bIns="0">
            <a:spAutoFit/>
          </a:bodyPr>
          <a:lstStyle/>
          <a:p>
            <a:pPr algn="ctr"/>
            <a:r>
              <a:rPr sz="1200" b="0" i="0">
                <a:solidFill>
                  <a:srgbClr val="59687A"/>
                </a:solidFill>
                <a:latin typeface="Times New Roman"/>
              </a:rPr>
              <a:t>DEPARTMENT OF PHARMACY PRACTICE</a:t>
            </a:r>
          </a:p>
        </p:txBody>
      </p:sp>
      <p:sp>
        <p:nvSpPr>
          <p:cNvPr id="6" name="TextBox 5"/>
          <p:cNvSpPr txBox="1"/>
          <p:nvPr/>
        </p:nvSpPr>
        <p:spPr>
          <a:xfrm>
            <a:off x="8610904" y="6355994"/>
            <a:ext cx="2743200" cy="364845"/>
          </a:xfrm>
          <a:prstGeom prst="rect">
            <a:avLst/>
          </a:prstGeom>
          <a:noFill/>
        </p:spPr>
        <p:txBody>
          <a:bodyPr wrap="square" tIns="0" lIns="0" rIns="0" bIns="0">
            <a:spAutoFit/>
          </a:bodyPr>
          <a:lstStyle/>
          <a:p>
            <a:pPr algn="r"/>
            <a:r>
              <a:rPr sz="1200" b="0" i="0">
                <a:solidFill>
                  <a:srgbClr val="59687A"/>
                </a:solidFill>
                <a:latin typeface="Times New Roman"/>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